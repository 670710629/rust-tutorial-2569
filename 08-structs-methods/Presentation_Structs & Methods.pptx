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3"/>
  </p:notesMasterIdLst>
  <p:sldIdLst>
    <p:sldId id="256" r:id="rId6"/>
    <p:sldId id="257" r:id="rId7"/>
    <p:sldId id="275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76" r:id="rId17"/>
    <p:sldId id="259" r:id="rId18"/>
    <p:sldId id="268" r:id="rId19"/>
    <p:sldId id="269" r:id="rId20"/>
    <p:sldId id="270" r:id="rId21"/>
    <p:sldId id="260" r:id="rId22"/>
    <p:sldId id="261" r:id="rId23"/>
    <p:sldId id="262" r:id="rId24"/>
    <p:sldId id="267" r:id="rId25"/>
    <p:sldId id="263" r:id="rId26"/>
    <p:sldId id="272" r:id="rId27"/>
    <p:sldId id="273" r:id="rId28"/>
    <p:sldId id="274" r:id="rId29"/>
    <p:sldId id="264" r:id="rId30"/>
    <p:sldId id="265" r:id="rId31"/>
    <p:sldId id="26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D22B3-437F-39B8-08C5-3029ECFEDE16}" v="1523" dt="2026-10-03T07:26:58.962"/>
    <p1510:client id="{5C2114CD-8DDE-8007-ECA6-52D469F82585}" v="1" dt="2026-10-01T10:06:26.303"/>
    <p1510:client id="{639AB553-7FF1-F0CA-1723-91A7FFFC5C90}" v="644" dt="2026-10-02T15:25:18.768"/>
    <p1510:client id="{9C67DA09-4555-00D4-AA9A-501892B638C5}" v="188" dt="2026-10-01T14:35:03.416"/>
    <p1510:client id="{F6986A3D-1C19-4887-FCB1-AEC04717BF63}" v="447" dt="2026-10-01T14:25:37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0137-307B-52BB-7820-D2894422E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7E58A-C8E9-4173-1E0F-31D6756F4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104B4-A9B6-08B7-1616-5F5D04613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B6043-1A04-A3CD-419F-073B17AA7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4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2D4D-F3FA-33A9-9229-23FA9662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0F0BE-098F-8531-2436-9EC1FD632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420A0-9A5C-470E-6FA1-451B4F139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36407-1834-DA0A-9CB4-263B69530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8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66DB-9E63-8DA6-C2B1-DAFCAABC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C3CAD-C924-7080-92F6-192AED065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1643B-1E70-B826-348B-4F13097AB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818DA-48CA-18E2-0515-A5E3BFC35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0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A36FA-80CF-73F3-6ED7-67247A12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B6F63-D716-F046-3680-E68003A5A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77D86-7972-D952-87E3-CB5CA118F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0965-4CD8-6E06-76BC-CE38A3C63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05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EF7E-7389-A6C1-3F3B-F87571E7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97349-3728-B19F-C42A-471C92F05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7AB72-00F5-37F4-315F-F3D529600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6B73B-C2F9-5662-B14B-144E27723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1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705A-7AA8-35E4-966F-EB570470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AE596-B021-097A-59DE-448E3DECF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A3749-3946-5F5D-4CB2-23FD408E6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433E-E4E9-BBE8-8CE2-A71C879D4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2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E3F2-1AE7-985F-5210-AA373E57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21F42-C1ED-CAB3-4912-9A09D3D0F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1A07F-F8E2-4E5D-3D61-28E7CD1E7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50A1-FDE5-6FCA-AA09-4660D64B3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7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46630-64A9-2229-5687-BD7B6A25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63C5-CD3C-61FC-E10C-6A0B64D4D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17742-82B1-3205-F734-6DDB4B6A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863A7-6722-2CF7-4621-4308C6B98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41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2610-D143-AAEF-3FDE-BEE2AD6C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DB81E-54AF-5DB0-A0F6-95259460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501E8-228E-8425-B84B-538418D1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F65B-69F6-0258-37FE-69B85A0E5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11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B486-3149-A180-6B3C-F72B1946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11A49-763D-C891-CD66-46DA4D3A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B1DA5-64F9-BCB9-E867-DCFCEB209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BF74-5403-E826-ACA1-88C3CE2EA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64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84BC-279F-7B59-DD4C-BFF749F2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00D93-1AC2-0449-6023-94E224F40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25283-C592-65A9-8ACD-D6B3F9E40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9C72-79B3-BE0C-6261-D519A0822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5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0F05-B27F-A68B-060F-01057D51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CDA78-0525-B9AB-A1B0-C20FBCB9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D08F-DEB0-1822-15AC-D8FC8FDB6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F576D-3B7C-05D8-2F87-D75559791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60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44C4C-62E6-8BF3-2036-FBB1EE96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AA6BA-0F22-1A15-A974-208C33768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D9A73-DF38-A860-DD68-765C93D61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F3767-C396-6A59-E2C5-EEC07D656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02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8459-ACCC-0D98-C5D9-4DDD87D4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144B3-AF62-66AA-F39D-EBC3AE699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17A4-A5DD-931E-D5D7-06B3D745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06EBF-85ED-F229-E2E1-D5F417C69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51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CB47-D033-EFAB-FFFA-9A83554D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0B939-FED0-8AE8-30CE-5B73B0A0C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88E72-153C-58D5-7A61-C9320855E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ECCC-E505-4601-D4E9-06C8E278A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3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CF78-2485-C572-46E7-E821DC15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2794B-3592-8746-A057-7D2FCC08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009A2-ED09-9489-6076-F8B73627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3A5CC-D6CB-DA80-01F4-E8F51FE59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35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9D48-FFC0-4009-E4DD-FF2C6255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312C9-9AC1-8F55-258E-BBC21A57C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9E015-258A-5952-C69B-7C7A0C00E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0DFA-786E-7BF6-0068-90C0E0FF9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77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onklang/rust-tutorial-2569/tree/main/08-structs-method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8B2E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>
                <a:solidFill>
                  <a:srgbClr val="E8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TUTORIAL PRESENTATION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กลุ่ม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[8]  —  [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+mn-lt"/>
              </a:rPr>
              <a:t>Structs &amp; Methods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]</a:t>
            </a:r>
            <a:endParaRPr lang="en-US" sz="4000">
              <a:latin typeface="Cambria"/>
              <a:ea typeface="Cambr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สไลด์นำเสนอ — แทนที่ข้อความในวงเล็บ [ ] ด้วยเนื้อหาของกลุ่ม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725912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15968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[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นายพงศ์ชยุตม์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หัวใจเพ็ชร์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 — Concept + Short Code Illustration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745736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[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นายพชรพล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อาจม่วง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Detailed Code + Live Demo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517550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[นายพิชัยพร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พลบเนียม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Rust vs Other Language + PPL Analysis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605272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[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นายภัทรดนัย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คนชม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Exercises + Common Mistakes + Challenge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คณะวิทยาศาสตร์ มหาวิทยาลัยศิลปากร  |  ภาคการศึกษาที่ 1/2569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โครงสร้างการนำเสนอ (รวม ~20 นาที)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แต่ละคนนำเสนอประมาณ 5 นาที ต่อเนื่องกันตามลำดับ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+ Short Code Illustration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แนวคิดหลักของหัวข้อ พร้อมโค้ดตัวอย่างสั้น ๆ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321558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57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22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3458718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458718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8718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อธิบายโค้ดเชิงลึกและสาธิตการทำงานจริง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458718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185916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6615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661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323076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323076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Other Language + PPL Analysis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เปรียบเทียบภาษา และวิเคราะห์เชิง Programming Language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323076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9050274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0973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0973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9187434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187434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+ Common Mistakes + Challenge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9187434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และโจทย์ท้าทายผู้ฟัง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9187434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C9C57-B368-4A83-2BBC-D1C9ADBE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240261-1918-F46E-4EC0-E2764B70038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485144-72A0-6178-87AA-DCE15D356B6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962928-B63E-4711-B2D9-3D4B13134356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Structs &amp; Methods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คืออะไร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FA7C00-9FE8-7B59-2784-1EE9B957B19D}"/>
              </a:ext>
            </a:extLst>
          </p:cNvPr>
          <p:cNvSpPr/>
          <p:nvPr/>
        </p:nvSpPr>
        <p:spPr>
          <a:xfrm>
            <a:off x="6125330" y="1015905"/>
            <a:ext cx="5836460" cy="5166646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C8F854-C7B5-2744-016C-2B447273F59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34BA48-23D7-3456-CFB7-1619F6114D3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DF4BB15-A5D5-E489-1A9B-E5A0272E7995}"/>
              </a:ext>
            </a:extLst>
          </p:cNvPr>
          <p:cNvSpPr/>
          <p:nvPr/>
        </p:nvSpPr>
        <p:spPr>
          <a:xfrm>
            <a:off x="214798" y="1698080"/>
            <a:ext cx="5666806" cy="89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Struct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ใช้สร้างชนิดข้อมูลที่รวมข้อมูลที่เกี่ยวข้องกันไว้ด้วยกัน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Fields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คือข้อมูลภายใน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และสามารถใช้เพื่อทำ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Data Modeling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ได้</a:t>
            </a:r>
            <a:endParaRPr lang="en-US" sz="15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105852A-9EC0-C9B5-9107-B6A330AE2AEA}"/>
              </a:ext>
            </a:extLst>
          </p:cNvPr>
          <p:cNvSpPr/>
          <p:nvPr/>
        </p:nvSpPr>
        <p:spPr>
          <a:xfrm>
            <a:off x="214797" y="2346992"/>
            <a:ext cx="5666806" cy="89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เหตุผลที่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ออกแบบแนวคิดนี้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: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เพื่อจัดระเบียบข้อมูลและพฤติกรรมที่เกี่ยวข้องกัน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โดยใช้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Associated Functions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ผ่าน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impl</a:t>
            </a:r>
            <a:r>
              <a:rPr lang="en-US" sz="15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ทำให้มีความชัดเจนในการเขียนโปรแกรม</a:t>
            </a:r>
            <a:endParaRPr lang="en-US" sz="1500" err="1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EBE7677-D9CD-CC3F-9CEF-B0054FA3F532}"/>
              </a:ext>
            </a:extLst>
          </p:cNvPr>
          <p:cNvSpPr/>
          <p:nvPr/>
        </p:nvSpPr>
        <p:spPr>
          <a:xfrm>
            <a:off x="214796" y="3428841"/>
            <a:ext cx="5656910" cy="58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ช่วยแก้ไข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ช่วยลดการจัดการข้อมูลที่กระจัดกระจาย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และทำให้ข้อมูลกับพฤติกรรมของสิ่งนั้นอยู่ในโครงสร้างเดียวกัน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D41A47F-5630-62A5-3577-064B322A118E}"/>
              </a:ext>
            </a:extLst>
          </p:cNvPr>
          <p:cNvSpPr/>
          <p:nvPr/>
        </p:nvSpPr>
        <p:spPr>
          <a:xfrm>
            <a:off x="214795" y="4169482"/>
            <a:ext cx="5645537" cy="147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จำ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: Struct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โครงสร้างข้อมูล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Fields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Methods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พฤติกรรมของ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| Associated Functions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ฟังก์ชันของ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Type |         Data Modeling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การจำลองสิ่งต่าง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ๆ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ด้วยข้อมูลและพฤติกรรม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            Self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รับ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เป็นเจ้าของ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&amp;self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ยืม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มาใช้งาน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/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อ่านข้อมูล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โดยไม่แก้ไข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&amp;mut self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ยืม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แบบแก้ไขได้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endParaRPr lang="en-US" sz="15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D54EF74-682F-8458-3406-C4E7092C4541}"/>
              </a:ext>
            </a:extLst>
          </p:cNvPr>
          <p:cNvSpPr/>
          <p:nvPr/>
        </p:nvSpPr>
        <p:spPr>
          <a:xfrm>
            <a:off x="7542662" y="903251"/>
            <a:ext cx="1482285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1 Struct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E92544E-0F2F-BF6E-BF44-DE5A8D5FDE06}"/>
              </a:ext>
            </a:extLst>
          </p:cNvPr>
          <p:cNvSpPr/>
          <p:nvPr/>
        </p:nvSpPr>
        <p:spPr>
          <a:xfrm>
            <a:off x="7554033" y="1335429"/>
            <a:ext cx="1470912" cy="57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2 Fields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113085C-CC30-FD44-D577-60984BD915E1}"/>
              </a:ext>
            </a:extLst>
          </p:cNvPr>
          <p:cNvSpPr/>
          <p:nvPr/>
        </p:nvSpPr>
        <p:spPr>
          <a:xfrm>
            <a:off x="7690510" y="2006444"/>
            <a:ext cx="3051776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3 Associated </a:t>
            </a:r>
            <a:r>
              <a:rPr lang="en-US" sz="2400" b="1" err="1">
                <a:solidFill>
                  <a:srgbClr val="FEF2CC"/>
                </a:solidFill>
                <a:latin typeface="Cambria"/>
                <a:ea typeface="Cambria"/>
              </a:rPr>
              <a:t>Funtion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C7FCC87B-72ED-D906-0C2D-266E767BFE43}"/>
              </a:ext>
            </a:extLst>
          </p:cNvPr>
          <p:cNvSpPr/>
          <p:nvPr/>
        </p:nvSpPr>
        <p:spPr>
          <a:xfrm>
            <a:off x="9032538" y="2484114"/>
            <a:ext cx="1721121" cy="60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>
              <a:solidFill>
                <a:srgbClr val="FEF2CC"/>
              </a:solidFill>
              <a:latin typeface="Cambria"/>
              <a:ea typeface="Cambria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405CD4B6-F35D-B12E-59A8-AD2DF6C82A94}"/>
              </a:ext>
            </a:extLst>
          </p:cNvPr>
          <p:cNvSpPr/>
          <p:nvPr/>
        </p:nvSpPr>
        <p:spPr>
          <a:xfrm>
            <a:off x="9987883" y="3428085"/>
            <a:ext cx="1527777" cy="58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4 Methods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8002ED-B114-1084-3C64-A024CB4B9B6A}"/>
              </a:ext>
            </a:extLst>
          </p:cNvPr>
          <p:cNvSpPr/>
          <p:nvPr/>
        </p:nvSpPr>
        <p:spPr>
          <a:xfrm>
            <a:off x="6289343" y="1091820"/>
            <a:ext cx="1137314" cy="23883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3E0B16-45EF-9A0C-F601-D687F098052F}"/>
              </a:ext>
            </a:extLst>
          </p:cNvPr>
          <p:cNvSpPr/>
          <p:nvPr/>
        </p:nvSpPr>
        <p:spPr>
          <a:xfrm>
            <a:off x="6459939" y="1353401"/>
            <a:ext cx="978090" cy="44355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198748-C04A-679F-DBD0-996B3DCE5CE7}"/>
              </a:ext>
            </a:extLst>
          </p:cNvPr>
          <p:cNvSpPr/>
          <p:nvPr/>
        </p:nvSpPr>
        <p:spPr>
          <a:xfrm>
            <a:off x="6300715" y="2195012"/>
            <a:ext cx="1296537" cy="25021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3F4507-19DB-5004-3F8B-3D08517B1D58}"/>
              </a:ext>
            </a:extLst>
          </p:cNvPr>
          <p:cNvSpPr/>
          <p:nvPr/>
        </p:nvSpPr>
        <p:spPr>
          <a:xfrm>
            <a:off x="6277968" y="2509028"/>
            <a:ext cx="2547581" cy="83024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7382A96-8436-9A6B-87B4-7E900A9B239A}"/>
              </a:ext>
            </a:extLst>
          </p:cNvPr>
          <p:cNvSpPr/>
          <p:nvPr/>
        </p:nvSpPr>
        <p:spPr>
          <a:xfrm>
            <a:off x="6380326" y="3946473"/>
            <a:ext cx="4367282" cy="602777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36DCB4-ED16-72D5-3F3C-4A53D71B3CCD}"/>
              </a:ext>
            </a:extLst>
          </p:cNvPr>
          <p:cNvSpPr/>
          <p:nvPr/>
        </p:nvSpPr>
        <p:spPr>
          <a:xfrm>
            <a:off x="6310798" y="1122987"/>
            <a:ext cx="5451146" cy="490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struct Student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name: String,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age: i32,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Student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new(name: String) -&gt; Student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Student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name,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age: 18,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introduce(&amp;self)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!("Hi, I'm {}. I'm {} years old.", self.name,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self.age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main()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student = Student::new(String::from("John"));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student.introduce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();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F8ABFE-9589-A2D4-29E7-D957756D35B5}"/>
              </a:ext>
            </a:extLst>
          </p:cNvPr>
          <p:cNvGrpSpPr/>
          <p:nvPr/>
        </p:nvGrpSpPr>
        <p:grpSpPr>
          <a:xfrm>
            <a:off x="6135583" y="564077"/>
            <a:ext cx="811482" cy="644032"/>
            <a:chOff x="9084622" y="2256310"/>
            <a:chExt cx="811482" cy="64403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D0E19F4-E21D-FF41-EDF3-2BE46860FAF9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5E8864-8E69-B2C8-5BC4-D9613790A375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75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9186D-5272-0688-48DC-2B128813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C524E0-60B5-7B76-228E-BA4D5FE48E4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201817-814A-1E72-B426-D26E9445861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E67D7A-0562-C557-95E8-EAD2584E4A35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ea typeface="+mn-lt"/>
                <a:cs typeface="+mn-lt"/>
              </a:rPr>
              <a:t>Structs and Fields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BA0B5D0-C8F3-74EA-FA03-96CAA007EB21}"/>
              </a:ext>
            </a:extLst>
          </p:cNvPr>
          <p:cNvSpPr/>
          <p:nvPr/>
        </p:nvSpPr>
        <p:spPr>
          <a:xfrm>
            <a:off x="6333148" y="1015905"/>
            <a:ext cx="5628642" cy="24155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88DEF3-7359-33E1-9267-D0F6B52F0F1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CD4B83-9130-C5AD-AF3C-FBF715AAD27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80A64BEC-8030-9CA3-22F2-F30F7FA6650A}"/>
              </a:ext>
            </a:extLst>
          </p:cNvPr>
          <p:cNvSpPr/>
          <p:nvPr/>
        </p:nvSpPr>
        <p:spPr>
          <a:xfrm>
            <a:off x="6731182" y="1012108"/>
            <a:ext cx="1482285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1 Struct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ECF623D-3F74-3795-35B3-8D5E529DDAB6}"/>
              </a:ext>
            </a:extLst>
          </p:cNvPr>
          <p:cNvSpPr/>
          <p:nvPr/>
        </p:nvSpPr>
        <p:spPr>
          <a:xfrm>
            <a:off x="8296241" y="1751065"/>
            <a:ext cx="1470912" cy="57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2 Fields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D06E0B98-A488-E627-68BA-9D0D5DA21259}"/>
              </a:ext>
            </a:extLst>
          </p:cNvPr>
          <p:cNvSpPr/>
          <p:nvPr/>
        </p:nvSpPr>
        <p:spPr>
          <a:xfrm>
            <a:off x="9032538" y="2484114"/>
            <a:ext cx="1721121" cy="60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>
              <a:solidFill>
                <a:srgbClr val="FEF2CC"/>
              </a:solidFill>
              <a:latin typeface="Cambria"/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FB3CD-8A38-F9A6-7F82-07CE9F951B07}"/>
              </a:ext>
            </a:extLst>
          </p:cNvPr>
          <p:cNvSpPr txBox="1"/>
          <p:nvPr/>
        </p:nvSpPr>
        <p:spPr>
          <a:xfrm>
            <a:off x="455220" y="2033650"/>
            <a:ext cx="609600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75"/>
              </a:lnSpc>
            </a:pPr>
            <a:r>
              <a:rPr lang="en-US" sz="1500" baseline="0" dirty="0">
                <a:ea typeface="+mn-lt"/>
                <a:cs typeface="+mn-lt"/>
              </a:rPr>
              <a:t>Struct </a:t>
            </a:r>
            <a:r>
              <a:rPr lang="en-US" sz="1500" dirty="0" err="1">
                <a:ea typeface="+mn-lt"/>
                <a:cs typeface="+mn-lt"/>
              </a:rPr>
              <a:t>คือการ</a:t>
            </a:r>
            <a:r>
              <a:rPr lang="en-US" sz="1500" baseline="0" dirty="0" err="1">
                <a:ea typeface="+mn-lt"/>
                <a:cs typeface="+mn-lt"/>
              </a:rPr>
              <a:t>สร้าง</a:t>
            </a:r>
            <a:r>
              <a:rPr lang="en-US" sz="1500" dirty="0" err="1">
                <a:ea typeface="+mn-lt"/>
                <a:cs typeface="+mn-lt"/>
              </a:rPr>
              <a:t>รูปแบบ</a:t>
            </a:r>
            <a:r>
              <a:rPr lang="en-US" sz="1500" baseline="0" dirty="0" err="1">
                <a:ea typeface="+mn-lt"/>
                <a:cs typeface="+mn-lt"/>
              </a:rPr>
              <a:t>ข้อมูล</a:t>
            </a:r>
            <a:r>
              <a:rPr lang="en-US" sz="1500" dirty="0" err="1">
                <a:ea typeface="+mn-lt"/>
                <a:cs typeface="+mn-lt"/>
              </a:rPr>
              <a:t>ขึ้นมาเอง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เพื่อรวบรวม</a:t>
            </a:r>
            <a:r>
              <a:rPr lang="en-US" sz="1500" baseline="0" dirty="0" err="1">
                <a:ea typeface="+mn-lt"/>
                <a:cs typeface="+mn-lt"/>
              </a:rPr>
              <a:t>ข้อมูล</a:t>
            </a:r>
            <a:r>
              <a:rPr lang="en-US" sz="1500" dirty="0" err="1">
                <a:ea typeface="+mn-lt"/>
                <a:cs typeface="+mn-lt"/>
              </a:rPr>
              <a:t>หลายอย่าง</a:t>
            </a:r>
            <a:r>
              <a:rPr lang="en-US" sz="1500" baseline="0" dirty="0" err="1">
                <a:ea typeface="+mn-lt"/>
                <a:cs typeface="+mn-lt"/>
              </a:rPr>
              <a:t>ที่เกี่ยวข้องกันไว้ด้วยกัน</a:t>
            </a:r>
            <a:endParaRPr lang="en-US" sz="1500" baseline="0">
              <a:ea typeface="+mn-lt"/>
              <a:cs typeface="+mn-lt"/>
            </a:endParaRPr>
          </a:p>
          <a:p>
            <a:pPr>
              <a:lnSpc>
                <a:spcPts val="2175"/>
              </a:lnSpc>
            </a:pPr>
            <a:endParaRPr lang="en-US" sz="1500" dirty="0">
              <a:ea typeface="+mn-lt"/>
              <a:cs typeface="+mn-lt"/>
            </a:endParaRPr>
          </a:p>
          <a:p>
            <a:pPr>
              <a:lnSpc>
                <a:spcPts val="2175"/>
              </a:lnSpc>
            </a:pPr>
            <a:r>
              <a:rPr lang="en-US" sz="1500" dirty="0" err="1">
                <a:ea typeface="+mn-lt"/>
                <a:cs typeface="+mn-lt"/>
              </a:rPr>
              <a:t>เช่น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เราต้องการเก็บข้อมูลหนังสือ</a:t>
            </a:r>
            <a:r>
              <a:rPr lang="en-US" sz="1500" dirty="0">
                <a:ea typeface="+mn-lt"/>
                <a:cs typeface="+mn-lt"/>
              </a:rPr>
              <a:t> 1 </a:t>
            </a:r>
            <a:r>
              <a:rPr lang="en-US" sz="1500" dirty="0" err="1">
                <a:ea typeface="+mn-lt"/>
                <a:cs typeface="+mn-lt"/>
              </a:rPr>
              <a:t>เล่ม</a:t>
            </a:r>
            <a:endParaRPr lang="en-US" sz="1500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EAAB8-E359-C366-B3A4-91561DB0726F}"/>
              </a:ext>
            </a:extLst>
          </p:cNvPr>
          <p:cNvSpPr txBox="1"/>
          <p:nvPr/>
        </p:nvSpPr>
        <p:spPr>
          <a:xfrm>
            <a:off x="6679871" y="1519051"/>
            <a:ext cx="218703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struct Book {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 title: String,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 author: String,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 pages: u32,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</a:t>
            </a:r>
            <a:r>
              <a:rPr lang="en-US" sz="1400" dirty="0" err="1">
                <a:solidFill>
                  <a:schemeClr val="bg1"/>
                </a:solidFill>
              </a:rPr>
              <a:t>is_available</a:t>
            </a:r>
            <a:r>
              <a:rPr lang="en-US" sz="1400" dirty="0">
                <a:solidFill>
                  <a:schemeClr val="bg1"/>
                </a:solidFill>
              </a:rPr>
              <a:t>: bool,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}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D0417-99EC-AA08-0A81-C394190DB050}"/>
              </a:ext>
            </a:extLst>
          </p:cNvPr>
          <p:cNvSpPr txBox="1"/>
          <p:nvPr/>
        </p:nvSpPr>
        <p:spPr>
          <a:xfrm>
            <a:off x="455221" y="3715988"/>
            <a:ext cx="3048001" cy="23329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ea typeface="+mn-lt"/>
                <a:cs typeface="+mn-lt"/>
              </a:rPr>
              <a:t>เรากำหนดว่า</a:t>
            </a:r>
            <a:r>
              <a:rPr lang="en-US" sz="1400" dirty="0">
                <a:ea typeface="+mn-lt"/>
                <a:cs typeface="+mn-lt"/>
              </a:rPr>
              <a:t> Book </a:t>
            </a:r>
            <a:r>
              <a:rPr lang="en-US" sz="1400" dirty="0" err="1">
                <a:ea typeface="+mn-lt"/>
                <a:cs typeface="+mn-lt"/>
              </a:rPr>
              <a:t>ต้องมีข้อมูล</a:t>
            </a:r>
            <a:r>
              <a:rPr lang="en-US" sz="1400" dirty="0">
                <a:ea typeface="+mn-lt"/>
                <a:cs typeface="+mn-lt"/>
              </a:rPr>
              <a:t> 4 </a:t>
            </a:r>
            <a:r>
              <a:rPr lang="en-US" sz="1400" dirty="0" err="1">
                <a:ea typeface="+mn-lt"/>
                <a:cs typeface="+mn-lt"/>
              </a:rPr>
              <a:t>อย่าง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 - title → </a:t>
            </a:r>
            <a:r>
              <a:rPr lang="en-US" sz="1400" dirty="0" err="1">
                <a:ea typeface="+mn-lt"/>
                <a:cs typeface="+mn-lt"/>
              </a:rPr>
              <a:t>ชื่อหนังสือ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author → </a:t>
            </a:r>
            <a:r>
              <a:rPr lang="en-US" sz="1400" dirty="0" err="1">
                <a:ea typeface="+mn-lt"/>
                <a:cs typeface="+mn-lt"/>
              </a:rPr>
              <a:t>ผู้เขียน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pages → </a:t>
            </a:r>
            <a:r>
              <a:rPr lang="en-US" sz="1400" dirty="0" err="1">
                <a:ea typeface="+mn-lt"/>
                <a:cs typeface="+mn-lt"/>
              </a:rPr>
              <a:t>จำนวนหน้า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</a:t>
            </a:r>
            <a:r>
              <a:rPr lang="en-US" sz="1400" dirty="0" err="1">
                <a:ea typeface="+mn-lt"/>
                <a:cs typeface="+mn-lt"/>
              </a:rPr>
              <a:t>is_available</a:t>
            </a:r>
            <a:r>
              <a:rPr lang="en-US" sz="1400" dirty="0">
                <a:ea typeface="+mn-lt"/>
                <a:cs typeface="+mn-lt"/>
              </a:rPr>
              <a:t> → </a:t>
            </a:r>
            <a:r>
              <a:rPr lang="en-US" sz="1400" dirty="0" err="1">
                <a:ea typeface="+mn-lt"/>
                <a:cs typeface="+mn-lt"/>
              </a:rPr>
              <a:t>หนังสือว่างหรือไม่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 err="1">
                <a:ea typeface="+mn-lt"/>
                <a:cs typeface="+mn-lt"/>
              </a:rPr>
              <a:t>สิ่งเหล่านี้เรียกว่า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>
                <a:ea typeface="+mn-lt"/>
                <a:cs typeface="+mn-lt"/>
              </a:rPr>
              <a:t>Fields</a:t>
            </a:r>
            <a:endParaRPr lang="en-US" sz="1400" b="1">
              <a:ea typeface="+mn-lt"/>
              <a:cs typeface="+mn-lt"/>
            </a:endParaRPr>
          </a:p>
          <a:p>
            <a:pPr algn="ctr"/>
            <a:endParaRPr lang="en-US" sz="1400" dirty="0">
              <a:ea typeface="Calibri"/>
              <a:cs typeface="Calibri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9492E4AE-F9A4-55AD-BFCA-97BA539B1648}"/>
              </a:ext>
            </a:extLst>
          </p:cNvPr>
          <p:cNvSpPr/>
          <p:nvPr/>
        </p:nvSpPr>
        <p:spPr>
          <a:xfrm>
            <a:off x="6333148" y="3717541"/>
            <a:ext cx="5628642" cy="24155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A3C4D-3B6E-D722-4A6E-4E124A0786BF}"/>
              </a:ext>
            </a:extLst>
          </p:cNvPr>
          <p:cNvSpPr txBox="1"/>
          <p:nvPr/>
        </p:nvSpPr>
        <p:spPr>
          <a:xfrm>
            <a:off x="6679870" y="4002974"/>
            <a:ext cx="442355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let </a:t>
            </a:r>
            <a:r>
              <a:rPr lang="en-US" sz="1400" dirty="0" err="1">
                <a:solidFill>
                  <a:schemeClr val="bg1"/>
                </a:solidFill>
              </a:rPr>
              <a:t>my_book</a:t>
            </a:r>
            <a:r>
              <a:rPr lang="en-US" sz="1400" dirty="0">
                <a:solidFill>
                  <a:schemeClr val="bg1"/>
                </a:solidFill>
              </a:rPr>
              <a:t> = Book { 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 title: String::from("The Rust Programming Language"),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 author: String::from("</a:t>
            </a:r>
            <a:r>
              <a:rPr lang="en-US" sz="1400" dirty="0" err="1">
                <a:solidFill>
                  <a:schemeClr val="bg1"/>
                </a:solidFill>
              </a:rPr>
              <a:t>Pattaradanai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Konchom</a:t>
            </a:r>
            <a:r>
              <a:rPr lang="en-US" sz="1400" dirty="0">
                <a:solidFill>
                  <a:schemeClr val="bg1"/>
                </a:solidFill>
              </a:rPr>
              <a:t>"),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 pages: 552, 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</a:t>
            </a:r>
            <a:r>
              <a:rPr lang="en-US" sz="1400" dirty="0" err="1">
                <a:solidFill>
                  <a:schemeClr val="bg1"/>
                </a:solidFill>
              </a:rPr>
              <a:t>is_available</a:t>
            </a:r>
            <a:r>
              <a:rPr lang="en-US" sz="1400" dirty="0">
                <a:solidFill>
                  <a:schemeClr val="bg1"/>
                </a:solidFill>
              </a:rPr>
              <a:t>: true,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};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679B6-09C1-4EC7-2987-C5E1ADC0A590}"/>
              </a:ext>
            </a:extLst>
          </p:cNvPr>
          <p:cNvGrpSpPr/>
          <p:nvPr/>
        </p:nvGrpSpPr>
        <p:grpSpPr>
          <a:xfrm>
            <a:off x="5739739" y="791687"/>
            <a:ext cx="811482" cy="644032"/>
            <a:chOff x="9084622" y="2256310"/>
            <a:chExt cx="811482" cy="6440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9C4D317-E742-5A8D-96D8-2DAD4BEE3332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941634-9586-AA02-D7B5-D570F28666A1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DC1355-36F3-6FA5-CA2D-14413D4F3866}"/>
              </a:ext>
            </a:extLst>
          </p:cNvPr>
          <p:cNvGrpSpPr/>
          <p:nvPr/>
        </p:nvGrpSpPr>
        <p:grpSpPr>
          <a:xfrm>
            <a:off x="5739738" y="3394361"/>
            <a:ext cx="811482" cy="644032"/>
            <a:chOff x="9084622" y="2256310"/>
            <a:chExt cx="811482" cy="64403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1FEEA76-B0FB-C701-C79A-058F3641B77C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B109B4-B8C8-E849-18CC-E249F008F196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8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A69B1-90E2-7748-A4E8-07B9F69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97B9F5-F1C6-8495-0755-CB2CC452B98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955071-436C-59EC-E401-0A3207AA66C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D7EEB0-7BEF-0812-3565-44C972D56A35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Modifying Structs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875064-A363-053E-060B-EE1E315258BB}"/>
              </a:ext>
            </a:extLst>
          </p:cNvPr>
          <p:cNvSpPr/>
          <p:nvPr/>
        </p:nvSpPr>
        <p:spPr>
          <a:xfrm>
            <a:off x="5620629" y="1589878"/>
            <a:ext cx="4154123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90851E-5861-6143-5459-4B17BE13D7C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2FACAD-3F20-C9A6-71B3-4B541919F46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9B310-DEFD-39A4-E9AC-4F667D720659}"/>
              </a:ext>
            </a:extLst>
          </p:cNvPr>
          <p:cNvSpPr txBox="1"/>
          <p:nvPr/>
        </p:nvSpPr>
        <p:spPr>
          <a:xfrm>
            <a:off x="455220" y="2033650"/>
            <a:ext cx="4868885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การแก้ไข</a:t>
            </a:r>
            <a:r>
              <a:rPr lang="en-US" sz="1500" baseline="0" dirty="0" err="1">
                <a:ea typeface="+mn-lt"/>
                <a:cs typeface="+mn-lt"/>
              </a:rPr>
              <a:t>ข้อมูลที่</a:t>
            </a:r>
            <a:r>
              <a:rPr lang="en-US" sz="1500" dirty="0" err="1">
                <a:ea typeface="+mn-lt"/>
                <a:cs typeface="+mn-lt"/>
              </a:rPr>
              <a:t>อยู่ใน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/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โดยปกติ</a:t>
            </a:r>
            <a:r>
              <a:rPr lang="en-US" sz="1500" dirty="0">
                <a:ea typeface="+mn-lt"/>
                <a:cs typeface="+mn-lt"/>
              </a:rPr>
              <a:t> Rust </a:t>
            </a:r>
            <a:r>
              <a:rPr lang="en-US" sz="1500" dirty="0" err="1">
                <a:ea typeface="+mn-lt"/>
                <a:cs typeface="+mn-lt"/>
              </a:rPr>
              <a:t>จะไม่ให้เราแก้ค่าตัวแปรที่ประกาศแบบธรรมดา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46231-3D9A-3286-A653-36851514ACF2}"/>
              </a:ext>
            </a:extLst>
          </p:cNvPr>
          <p:cNvSpPr txBox="1"/>
          <p:nvPr/>
        </p:nvSpPr>
        <p:spPr>
          <a:xfrm>
            <a:off x="5779326" y="1736764"/>
            <a:ext cx="382979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let user1 = User {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username: String::from("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"),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active: true,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: 1,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DF3DFCD-E02F-630B-934D-DD297ECC298C}"/>
              </a:ext>
            </a:extLst>
          </p:cNvPr>
          <p:cNvSpPr/>
          <p:nvPr/>
        </p:nvSpPr>
        <p:spPr>
          <a:xfrm>
            <a:off x="5610732" y="3341488"/>
            <a:ext cx="4154123" cy="55506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7A2252-018C-57F1-5AAF-B663D4C25646}"/>
              </a:ext>
            </a:extLst>
          </p:cNvPr>
          <p:cNvSpPr txBox="1"/>
          <p:nvPr/>
        </p:nvSpPr>
        <p:spPr>
          <a:xfrm>
            <a:off x="5749637" y="3488374"/>
            <a:ext cx="38297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user1.active = false;</a:t>
            </a: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E3F1C04-ACB3-7570-2C51-CF77DCC425D6}"/>
              </a:ext>
            </a:extLst>
          </p:cNvPr>
          <p:cNvSpPr/>
          <p:nvPr/>
        </p:nvSpPr>
        <p:spPr>
          <a:xfrm>
            <a:off x="9974914" y="1589877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630CA-4375-F385-4DD8-87475F21BACB}"/>
              </a:ext>
            </a:extLst>
          </p:cNvPr>
          <p:cNvSpPr txBox="1"/>
          <p:nvPr/>
        </p:nvSpPr>
        <p:spPr>
          <a:xfrm>
            <a:off x="5611090" y="4101936"/>
            <a:ext cx="6709559" cy="3939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Rust </a:t>
            </a:r>
            <a:r>
              <a:rPr lang="en-US" sz="1400" dirty="0" err="1">
                <a:solidFill>
                  <a:srgbClr val="C00000"/>
                </a:solidFill>
                <a:ea typeface="+mn-lt"/>
                <a:cs typeface="+mn-lt"/>
              </a:rPr>
              <a:t>จะไม่อนุญาต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เพราะ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>
                <a:latin typeface="Consolas"/>
                <a:ea typeface="+mn-lt"/>
                <a:cs typeface="+mn-lt"/>
              </a:rPr>
              <a:t>user1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ไม่ได้ประกาศเป็น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>
                <a:latin typeface="Consolas"/>
                <a:ea typeface="+mn-lt"/>
                <a:cs typeface="+mn-lt"/>
              </a:rPr>
              <a:t>mut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จึงไม่สามารถแก้ไขค่าใน</a:t>
            </a:r>
            <a:r>
              <a:rPr lang="en-US" sz="1400" dirty="0">
                <a:ea typeface="+mn-lt"/>
                <a:cs typeface="+mn-lt"/>
              </a:rPr>
              <a:t> Struct </a:t>
            </a:r>
            <a:r>
              <a:rPr lang="en-US" sz="1400" dirty="0" err="1">
                <a:ea typeface="+mn-lt"/>
                <a:cs typeface="+mn-lt"/>
              </a:rPr>
              <a:t>ได้</a:t>
            </a:r>
            <a:endParaRPr lang="en-US" dirty="0" err="1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3AC3CF69-1536-E7BA-ADF2-D177FAC447AE}"/>
              </a:ext>
            </a:extLst>
          </p:cNvPr>
          <p:cNvSpPr/>
          <p:nvPr/>
        </p:nvSpPr>
        <p:spPr>
          <a:xfrm>
            <a:off x="9094519" y="2899557"/>
            <a:ext cx="1335973" cy="1276598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D65DBF-4ED9-A14E-8C6F-DAA22DB582C6}"/>
              </a:ext>
            </a:extLst>
          </p:cNvPr>
          <p:cNvSpPr txBox="1"/>
          <p:nvPr/>
        </p:nvSpPr>
        <p:spPr>
          <a:xfrm>
            <a:off x="10004959" y="1954481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true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910FF-3435-2690-1099-6AD0E78776EC}"/>
              </a:ext>
            </a:extLst>
          </p:cNvPr>
          <p:cNvSpPr txBox="1"/>
          <p:nvPr/>
        </p:nvSpPr>
        <p:spPr>
          <a:xfrm>
            <a:off x="9995065" y="162790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A9EBCC-91C8-A584-B995-91636FA23706}"/>
              </a:ext>
            </a:extLst>
          </p:cNvPr>
          <p:cNvGrpSpPr/>
          <p:nvPr/>
        </p:nvGrpSpPr>
        <p:grpSpPr>
          <a:xfrm>
            <a:off x="5284518" y="1365661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09F2AAE-03E7-408D-96A8-581FA06A203B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B8E1BB-4EAF-2D63-9FD4-196E27F14158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3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7549E-18B6-020B-3E35-3D6260D0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A3EF31-D54C-FC76-E1F5-81841F9C4CD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D0BD36-9884-07E1-B31C-6D03EEB7CD7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860A94-05AF-AC4F-853D-8AC26A7A9B4D}"/>
              </a:ext>
            </a:extLst>
          </p:cNvPr>
          <p:cNvSpPr/>
          <p:nvPr/>
        </p:nvSpPr>
        <p:spPr>
          <a:xfrm>
            <a:off x="496784" y="1066466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dirty="0" err="1">
                <a:solidFill>
                  <a:srgbClr val="222222"/>
                </a:solidFill>
                <a:ea typeface="+mn-lt"/>
                <a:cs typeface="+mn-lt"/>
              </a:rPr>
              <a:t>แล้วต้องทำอย่างไร</a:t>
            </a:r>
            <a:r>
              <a:rPr lang="en-US" sz="3000" dirty="0">
                <a:solidFill>
                  <a:srgbClr val="222222"/>
                </a:solidFill>
                <a:ea typeface="+mn-lt"/>
                <a:cs typeface="+mn-lt"/>
              </a:rPr>
              <a:t>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E9B7B2-4364-4312-00E8-4E50A571A6C7}"/>
              </a:ext>
            </a:extLst>
          </p:cNvPr>
          <p:cNvSpPr/>
          <p:nvPr/>
        </p:nvSpPr>
        <p:spPr>
          <a:xfrm>
            <a:off x="5620629" y="1589878"/>
            <a:ext cx="4154123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58A90C-78EA-EF1C-7947-5052E56121E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12FF26-ED5C-C32F-E1B7-B79C47FA680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D98AB-0087-D5A1-016F-87CBDD646A71}"/>
              </a:ext>
            </a:extLst>
          </p:cNvPr>
          <p:cNvSpPr txBox="1"/>
          <p:nvPr/>
        </p:nvSpPr>
        <p:spPr>
          <a:xfrm>
            <a:off x="455220" y="1954482"/>
            <a:ext cx="4641275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ต้องใส่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>
                <a:latin typeface="Consolas"/>
                <a:ea typeface="Calibri"/>
                <a:cs typeface="Calibri"/>
              </a:rPr>
              <a:t>mut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ตอนประกาศตัวแปร</a:t>
            </a:r>
            <a:r>
              <a:rPr lang="en-US" sz="1500" dirty="0">
                <a:ea typeface="+mn-lt"/>
                <a:cs typeface="+mn-lt"/>
              </a:rPr>
              <a:t> (</a:t>
            </a:r>
            <a:r>
              <a:rPr lang="en-US" sz="1500" dirty="0">
                <a:latin typeface="Calibri"/>
                <a:ea typeface="+mn-lt"/>
                <a:cs typeface="+mn-lt"/>
              </a:rPr>
              <a:t>mut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ย่อมาจาก</a:t>
            </a:r>
            <a:r>
              <a:rPr lang="en-US" sz="1500" dirty="0">
                <a:ea typeface="+mn-lt"/>
                <a:cs typeface="+mn-lt"/>
              </a:rPr>
              <a:t> mutable)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ตัวแปรนี้สามารถถูกแก้ไขค่าได้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5AAF2-44ED-8607-173B-8160976EC391}"/>
              </a:ext>
            </a:extLst>
          </p:cNvPr>
          <p:cNvSpPr txBox="1"/>
          <p:nvPr/>
        </p:nvSpPr>
        <p:spPr>
          <a:xfrm>
            <a:off x="5779326" y="1736764"/>
            <a:ext cx="382979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let mut user1 = User {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 username: String::from("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"),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 active: true,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: 1,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B86D661-47DE-334E-0D5B-F838FE3B4022}"/>
              </a:ext>
            </a:extLst>
          </p:cNvPr>
          <p:cNvSpPr/>
          <p:nvPr/>
        </p:nvSpPr>
        <p:spPr>
          <a:xfrm>
            <a:off x="5600836" y="3549306"/>
            <a:ext cx="4154123" cy="55506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CB3D16-7816-1A5C-ED38-718D9CC8710B}"/>
              </a:ext>
            </a:extLst>
          </p:cNvPr>
          <p:cNvSpPr txBox="1"/>
          <p:nvPr/>
        </p:nvSpPr>
        <p:spPr>
          <a:xfrm>
            <a:off x="5739741" y="3696192"/>
            <a:ext cx="38297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user1.active = false;</a:t>
            </a: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03103070-4F13-FC45-B3E3-9E6BA3060143}"/>
              </a:ext>
            </a:extLst>
          </p:cNvPr>
          <p:cNvSpPr/>
          <p:nvPr/>
        </p:nvSpPr>
        <p:spPr>
          <a:xfrm>
            <a:off x="9974914" y="1589877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BCD794-5734-F2B7-D1BA-A1EA8097455F}"/>
              </a:ext>
            </a:extLst>
          </p:cNvPr>
          <p:cNvSpPr txBox="1"/>
          <p:nvPr/>
        </p:nvSpPr>
        <p:spPr>
          <a:xfrm>
            <a:off x="10004959" y="1954481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true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AA964-1C2D-BAD5-D8CE-DCE167DCAED3}"/>
              </a:ext>
            </a:extLst>
          </p:cNvPr>
          <p:cNvSpPr txBox="1"/>
          <p:nvPr/>
        </p:nvSpPr>
        <p:spPr>
          <a:xfrm>
            <a:off x="9995065" y="162790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B7A98-60CD-CA6F-1A2B-D467073F5A79}"/>
              </a:ext>
            </a:extLst>
          </p:cNvPr>
          <p:cNvSpPr txBox="1"/>
          <p:nvPr/>
        </p:nvSpPr>
        <p:spPr>
          <a:xfrm>
            <a:off x="3038104" y="363681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️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C5B98-9E69-53C4-CB38-0D336E79DAA1}"/>
              </a:ext>
            </a:extLst>
          </p:cNvPr>
          <p:cNvSpPr txBox="1"/>
          <p:nvPr/>
        </p:nvSpPr>
        <p:spPr>
          <a:xfrm>
            <a:off x="9134104" y="3854531"/>
            <a:ext cx="114794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✅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B67E3AE-FC6A-D93E-FFC4-C927688EE170}"/>
              </a:ext>
            </a:extLst>
          </p:cNvPr>
          <p:cNvSpPr/>
          <p:nvPr/>
        </p:nvSpPr>
        <p:spPr>
          <a:xfrm>
            <a:off x="9965017" y="3549305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A28DA-CDB8-350B-EE36-331A01B4F8B5}"/>
              </a:ext>
            </a:extLst>
          </p:cNvPr>
          <p:cNvSpPr txBox="1"/>
          <p:nvPr/>
        </p:nvSpPr>
        <p:spPr>
          <a:xfrm>
            <a:off x="9995063" y="3973285"/>
            <a:ext cx="2028701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false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lnSpc>
                <a:spcPts val="1650"/>
              </a:lnSpc>
            </a:pP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90F55A-C559-8916-4FCA-343DB366E681}"/>
              </a:ext>
            </a:extLst>
          </p:cNvPr>
          <p:cNvSpPr txBox="1"/>
          <p:nvPr/>
        </p:nvSpPr>
        <p:spPr>
          <a:xfrm>
            <a:off x="10004961" y="360712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BFB59-F833-FDD4-0ECF-A81670679A25}"/>
              </a:ext>
            </a:extLst>
          </p:cNvPr>
          <p:cNvGrpSpPr/>
          <p:nvPr/>
        </p:nvGrpSpPr>
        <p:grpSpPr>
          <a:xfrm>
            <a:off x="5086596" y="1415141"/>
            <a:ext cx="811482" cy="644032"/>
            <a:chOff x="9084622" y="2256310"/>
            <a:chExt cx="811482" cy="64403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2F3BF44-D6E7-FFBA-28B2-A67733A61C2E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A58EA1-2934-86D0-C833-8E5BED680C9F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42D59C-8B5F-4D81-BE62-8811089E842B}"/>
              </a:ext>
            </a:extLst>
          </p:cNvPr>
          <p:cNvGrpSpPr/>
          <p:nvPr/>
        </p:nvGrpSpPr>
        <p:grpSpPr>
          <a:xfrm>
            <a:off x="9609117" y="1286492"/>
            <a:ext cx="811482" cy="428588"/>
            <a:chOff x="7788233" y="2266207"/>
            <a:chExt cx="811482" cy="42858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AC5FBED-4B7C-EC57-249C-3BA48E69A01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05CA1F-1F61-8A2E-3498-DEE8C63EC61E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Calibri"/>
                  <a:cs typeface="Calibri"/>
                </a:rPr>
                <a:t>ค่าที่ได้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969C3-4D79-900D-98B5-A4685079C7D0}"/>
              </a:ext>
            </a:extLst>
          </p:cNvPr>
          <p:cNvGrpSpPr/>
          <p:nvPr/>
        </p:nvGrpSpPr>
        <p:grpSpPr>
          <a:xfrm>
            <a:off x="9559637" y="3265713"/>
            <a:ext cx="811482" cy="428588"/>
            <a:chOff x="7788233" y="2266207"/>
            <a:chExt cx="811482" cy="42858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E274AD6-3E54-077A-FBBA-5CC094657653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3DFFB6-1B4B-658F-6B28-6A4FA41F2460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ค่าที่ได้</a:t>
              </a:r>
              <a:endParaRPr 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98339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10554-73FD-2630-9083-C03053E6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EFE9E3-72D3-FAC6-596A-CA0734C147C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8AAFE8-DCE3-913A-3EDB-221CE2BA807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85B5CF-B9B9-89EA-C99E-ED579392149D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[Tuple Structs]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ABF9A7-DF35-D2F6-6D7C-E30F2803F43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C5FDE9-4C38-B966-CFBD-86944DE82C7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DC836-BC2A-3BC1-04C0-1D4A9749A35F}"/>
              </a:ext>
            </a:extLst>
          </p:cNvPr>
          <p:cNvSpPr txBox="1"/>
          <p:nvPr/>
        </p:nvSpPr>
        <p:spPr>
          <a:xfrm>
            <a:off x="455221" y="1984169"/>
            <a:ext cx="609600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Tuple Struct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คือ</a:t>
            </a:r>
            <a:r>
              <a:rPr lang="en-US" sz="1500" dirty="0">
                <a:latin typeface="Calibri"/>
                <a:ea typeface="Calibri"/>
                <a:cs typeface="Calibri"/>
              </a:rPr>
              <a:t> Struct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ที่มีชนิดข้อมูล</a:t>
            </a:r>
            <a:r>
              <a:rPr lang="en-US" sz="1500" dirty="0"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แต่ไม่มีชื่อของ</a:t>
            </a:r>
            <a:r>
              <a:rPr lang="en-US" sz="1500" dirty="0">
                <a:latin typeface="Calibri"/>
                <a:ea typeface="Calibri"/>
                <a:cs typeface="Calibri"/>
              </a:rPr>
              <a:t> Fields</a:t>
            </a:r>
            <a:br>
              <a:rPr lang="en-US" sz="1500" dirty="0">
                <a:latin typeface="Calibri"/>
                <a:ea typeface="Calibri"/>
                <a:cs typeface="Calibri"/>
              </a:rPr>
            </a:br>
            <a:r>
              <a:rPr lang="en-US" sz="1500" dirty="0" err="1">
                <a:latin typeface="Calibri"/>
                <a:ea typeface="Calibri"/>
                <a:cs typeface="Calibri"/>
              </a:rPr>
              <a:t>เหมาะสำหรับการรวมข้อมูลที่เกี่ยวข้องกันไว้ด้วยกัน</a:t>
            </a:r>
            <a:r>
              <a:rPr lang="en-US" sz="1500" dirty="0"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โดยเข้าถึงข้อมูลผ่านตำแหน่ง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2571E37-7015-3458-F460-C978BC2453E0}"/>
              </a:ext>
            </a:extLst>
          </p:cNvPr>
          <p:cNvSpPr/>
          <p:nvPr/>
        </p:nvSpPr>
        <p:spPr>
          <a:xfrm>
            <a:off x="6442005" y="1837280"/>
            <a:ext cx="2620227" cy="4127556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B1AD6-C779-4913-ED15-5F4C55665F94}"/>
              </a:ext>
            </a:extLst>
          </p:cNvPr>
          <p:cNvSpPr txBox="1"/>
          <p:nvPr/>
        </p:nvSpPr>
        <p:spPr>
          <a:xfrm>
            <a:off x="6600702" y="1984166"/>
            <a:ext cx="2335481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Color(i32, i32, i32);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black = Color(1, 2, 3);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"Black RGB: ({}, {}, {})",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black.0, black.1, black.2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B01BB02-4ED5-7EFE-DCC1-A92A8BF1ADD5}"/>
              </a:ext>
            </a:extLst>
          </p:cNvPr>
          <p:cNvSpPr/>
          <p:nvPr/>
        </p:nvSpPr>
        <p:spPr>
          <a:xfrm>
            <a:off x="9321771" y="1837280"/>
            <a:ext cx="1947292" cy="110924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241CD-1666-E007-F110-B8A3B58CC7A9}"/>
              </a:ext>
            </a:extLst>
          </p:cNvPr>
          <p:cNvSpPr txBox="1"/>
          <p:nvPr/>
        </p:nvSpPr>
        <p:spPr>
          <a:xfrm>
            <a:off x="9460676" y="2003958"/>
            <a:ext cx="233548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black (1,   2,  3)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     ↓  ↓  ↓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      .0   .1   .2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E8DB07-5F4D-F317-D8A6-C4F1E79057B9}"/>
              </a:ext>
            </a:extLst>
          </p:cNvPr>
          <p:cNvGrpSpPr/>
          <p:nvPr/>
        </p:nvGrpSpPr>
        <p:grpSpPr>
          <a:xfrm>
            <a:off x="5917869" y="1712025"/>
            <a:ext cx="811482" cy="644032"/>
            <a:chOff x="9084622" y="2256310"/>
            <a:chExt cx="811482" cy="64403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F4E8936-DE51-4E62-9AFC-E01214C5FD2C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565F69-7608-AEF5-9CAF-DD87874DA457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BE8C43-622E-48B1-87FD-61E1711446EB}"/>
              </a:ext>
            </a:extLst>
          </p:cNvPr>
          <p:cNvGrpSpPr/>
          <p:nvPr/>
        </p:nvGrpSpPr>
        <p:grpSpPr>
          <a:xfrm>
            <a:off x="9054935" y="1622960"/>
            <a:ext cx="811482" cy="428588"/>
            <a:chOff x="7788233" y="2266207"/>
            <a:chExt cx="811482" cy="428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CA4330F-4058-A2D3-AD87-562638B1A97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B5DBC3-A84E-58FC-9269-A4D0ADCCA91C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6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27A80-1D9F-4551-3589-AE87FE06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27C2C9-B123-5D29-20D5-C0453CCCE18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D21A31-B3CD-4AC2-B7B0-F72E815335B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9B3A8F-0285-C62C-EEFE-1E80B20CD788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[Unit-Like Structs]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907C48-ADE5-B45A-B811-183049A1C31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3E3601-0C25-E6CA-7C10-8125BBF84C3B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13107-B87C-EB45-1ED8-D93749C9417C}"/>
              </a:ext>
            </a:extLst>
          </p:cNvPr>
          <p:cNvSpPr txBox="1"/>
          <p:nvPr/>
        </p:nvSpPr>
        <p:spPr>
          <a:xfrm>
            <a:off x="455221" y="2003961"/>
            <a:ext cx="4868884" cy="748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ea typeface="+mn-lt"/>
                <a:cs typeface="+mn-lt"/>
              </a:rPr>
              <a:t>Unit-Like Struct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Struct </a:t>
            </a:r>
            <a:r>
              <a:rPr lang="en-US" sz="1500" dirty="0" err="1">
                <a:ea typeface="+mn-lt"/>
                <a:cs typeface="+mn-lt"/>
              </a:rPr>
              <a:t>ที่ไม่มี</a:t>
            </a:r>
            <a:r>
              <a:rPr lang="en-US" sz="1500" dirty="0">
                <a:ea typeface="+mn-lt"/>
                <a:cs typeface="+mn-lt"/>
              </a:rPr>
              <a:t> Fields </a:t>
            </a:r>
            <a:r>
              <a:rPr lang="en-US" sz="1500" dirty="0" err="1">
                <a:ea typeface="+mn-lt"/>
                <a:cs typeface="+mn-lt"/>
              </a:rPr>
              <a:t>และไม่มีข้อมูลภายใน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ใช้สำหรับสร้าง</a:t>
            </a:r>
            <a:r>
              <a:rPr lang="en-US" sz="1500" dirty="0">
                <a:ea typeface="+mn-lt"/>
                <a:cs typeface="+mn-lt"/>
              </a:rPr>
              <a:t> Type </a:t>
            </a:r>
            <a:r>
              <a:rPr lang="en-US" sz="1500" dirty="0" err="1">
                <a:ea typeface="+mn-lt"/>
                <a:cs typeface="+mn-lt"/>
              </a:rPr>
              <a:t>ที่ไม่จำเป็นต้องเก็บข้อมูล</a:t>
            </a:r>
            <a:endParaRPr lang="en-US" dirty="0" err="1">
              <a:ea typeface="+mn-lt"/>
              <a:cs typeface="+mn-lt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4668C61-B64F-EC3A-1C0B-0E93ED460200}"/>
              </a:ext>
            </a:extLst>
          </p:cNvPr>
          <p:cNvSpPr/>
          <p:nvPr/>
        </p:nvSpPr>
        <p:spPr>
          <a:xfrm>
            <a:off x="6442005" y="1837280"/>
            <a:ext cx="2620227" cy="159415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41E91-10AF-1B25-AB89-BA3A8851DBC8}"/>
              </a:ext>
            </a:extLst>
          </p:cNvPr>
          <p:cNvSpPr txBox="1"/>
          <p:nvPr/>
        </p:nvSpPr>
        <p:spPr>
          <a:xfrm>
            <a:off x="6600702" y="1984166"/>
            <a:ext cx="2335481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AlwaysEqual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_subject =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AlwaysEqual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08C8E-819D-B916-4BD5-B26944D21EBE}"/>
              </a:ext>
            </a:extLst>
          </p:cNvPr>
          <p:cNvSpPr txBox="1"/>
          <p:nvPr/>
        </p:nvSpPr>
        <p:spPr>
          <a:xfrm>
            <a:off x="9064831" y="1984169"/>
            <a:ext cx="2503715" cy="695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→ </a:t>
            </a:r>
            <a:r>
              <a:rPr lang="en-US" sz="1400" dirty="0" err="1">
                <a:cs typeface="Calibri"/>
              </a:rPr>
              <a:t>สร้าง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/>
              <a:t>Struct </a:t>
            </a:r>
            <a:r>
              <a:rPr lang="en-US" sz="1400" dirty="0" err="1">
                <a:cs typeface="Calibri"/>
              </a:rPr>
              <a:t>ชื่อ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/>
              <a:t>AlwaysEqual</a:t>
            </a:r>
            <a:r>
              <a:rPr lang="en-US" sz="1400" dirty="0"/>
              <a:t> </a:t>
            </a:r>
            <a:r>
              <a:rPr lang="en-US" sz="1400" dirty="0" err="1">
                <a:cs typeface="Calibri"/>
              </a:rPr>
              <a:t>ที่</a:t>
            </a:r>
            <a:r>
              <a:rPr lang="en-US" sz="1400" dirty="0">
                <a:cs typeface="Calibri"/>
              </a:rPr>
              <a:t> </a:t>
            </a:r>
            <a:r>
              <a:rPr lang="en-US" sz="1400" b="1" dirty="0" err="1">
                <a:cs typeface="Calibri"/>
              </a:rPr>
              <a:t>ไม่มี</a:t>
            </a:r>
            <a:r>
              <a:rPr lang="en-US" sz="1400" b="1" dirty="0">
                <a:cs typeface="Calibri"/>
              </a:rPr>
              <a:t> </a:t>
            </a:r>
            <a:r>
              <a:rPr lang="en-US" sz="1400" b="1" dirty="0"/>
              <a:t>Field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B2A2D-AA2D-AFD1-5C67-CEFC4C8FFC73}"/>
              </a:ext>
            </a:extLst>
          </p:cNvPr>
          <p:cNvSpPr txBox="1"/>
          <p:nvPr/>
        </p:nvSpPr>
        <p:spPr>
          <a:xfrm>
            <a:off x="9064831" y="2736273"/>
            <a:ext cx="1969326" cy="695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→ </a:t>
            </a:r>
            <a:r>
              <a:rPr lang="en-US" sz="1400" dirty="0" err="1">
                <a:cs typeface="Calibri"/>
              </a:rPr>
              <a:t>สร้างตัวแปร</a:t>
            </a:r>
            <a:r>
              <a:rPr lang="en-US" sz="1400" dirty="0">
                <a:cs typeface="Calibri"/>
              </a:rPr>
              <a:t> _</a:t>
            </a:r>
            <a:r>
              <a:rPr lang="en-US" sz="1400" dirty="0"/>
              <a:t>subject </a:t>
            </a:r>
            <a:r>
              <a:rPr lang="en-US" sz="1400" dirty="0" err="1">
                <a:cs typeface="Calibri"/>
              </a:rPr>
              <a:t>จาก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/>
              <a:t>Type </a:t>
            </a:r>
            <a:r>
              <a:rPr lang="en-US" sz="1400" dirty="0" err="1"/>
              <a:t>AlwaysEqual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5A73D-B603-281E-8E60-A53984D9D45C}"/>
              </a:ext>
            </a:extLst>
          </p:cNvPr>
          <p:cNvSpPr txBox="1"/>
          <p:nvPr/>
        </p:nvSpPr>
        <p:spPr>
          <a:xfrm>
            <a:off x="455221" y="4082143"/>
            <a:ext cx="6432467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แล้วมัน</a:t>
            </a:r>
            <a:r>
              <a:rPr lang="en-US" sz="1500" baseline="0" dirty="0" err="1">
                <a:ea typeface="+mn-lt"/>
                <a:cs typeface="+mn-lt"/>
              </a:rPr>
              <a:t>มี</a:t>
            </a:r>
            <a:r>
              <a:rPr lang="en-US" sz="1500" dirty="0" err="1">
                <a:ea typeface="+mn-lt"/>
                <a:cs typeface="+mn-lt"/>
              </a:rPr>
              <a:t>ไว้ทำไม</a:t>
            </a:r>
            <a:r>
              <a:rPr lang="en-US" sz="1500" dirty="0">
                <a:ea typeface="+mn-lt"/>
                <a:cs typeface="+mn-lt"/>
              </a:rPr>
              <a:t>?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ปกติ</a:t>
            </a:r>
            <a:r>
              <a:rPr lang="en-US" sz="1500" dirty="0">
                <a:ea typeface="+mn-lt"/>
                <a:cs typeface="+mn-lt"/>
              </a:rPr>
              <a:t> Struct </a:t>
            </a:r>
            <a:r>
              <a:rPr lang="en-US" sz="1500" dirty="0" err="1">
                <a:ea typeface="+mn-lt"/>
                <a:cs typeface="+mn-lt"/>
              </a:rPr>
              <a:t>เราจะสร้างมาเพื่อเก็บข้อมูล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เช่น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ชื่อ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อายุ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หรือราคา</a:t>
            </a:r>
            <a:r>
              <a:rPr lang="en-US" sz="1500" dirty="0">
                <a:ea typeface="+mn-lt"/>
                <a:cs typeface="+mn-lt"/>
              </a:rPr>
              <a:t> แต่ Unit-Like Struct </a:t>
            </a:r>
            <a:r>
              <a:rPr lang="en-US" sz="1500" dirty="0" err="1">
                <a:ea typeface="+mn-lt"/>
                <a:cs typeface="+mn-lt"/>
              </a:rPr>
              <a:t>ไม่มีข้อมูลให้เก็บ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เราจึงใช้มันในกรณีที่เราต้องการสร้าง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b="1" dirty="0">
                <a:ea typeface="+mn-lt"/>
                <a:cs typeface="+mn-lt"/>
              </a:rPr>
              <a:t>Type </a:t>
            </a:r>
            <a:r>
              <a:rPr lang="en-US" sz="1500" b="1" dirty="0" err="1">
                <a:ea typeface="+mn-lt"/>
                <a:cs typeface="+mn-lt"/>
              </a:rPr>
              <a:t>สำหรับเป็นตัวแทนบางอย่าง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โดยไม่ต้องมีข้อมูลอยู่ข้างใน</a:t>
            </a:r>
            <a:endParaRPr lang="en-US" dirty="0" err="1">
              <a:ea typeface="+mn-lt"/>
              <a:cs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7F6F1F-7CBD-3740-9602-03E2AF51EC2C}"/>
              </a:ext>
            </a:extLst>
          </p:cNvPr>
          <p:cNvGrpSpPr/>
          <p:nvPr/>
        </p:nvGrpSpPr>
        <p:grpSpPr>
          <a:xfrm>
            <a:off x="5937661" y="1682336"/>
            <a:ext cx="811482" cy="644032"/>
            <a:chOff x="9084622" y="2256310"/>
            <a:chExt cx="811482" cy="64403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DB092E9-D3E7-98E6-4B86-6B8394438FFB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3DD1D5-6DDA-2DD1-1B12-5864041F3707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12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05E5B-CFB3-6580-1CBC-94F1A59D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1DBB7B-39D0-1BBC-D6B2-F40E7E1B588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C87CA8-A8DB-D57F-BC33-D13A58A7951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FCF1EE-BE11-51E5-CD25-E5D346A7B4BB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[Unit-Like Structs] Code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ตัวอย่าง</a:t>
            </a:r>
            <a:endParaRPr lang="en-US" sz="3000" b="1" dirty="0" err="1">
              <a:solidFill>
                <a:srgbClr val="22222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E5C943-FBDE-F5CF-04F9-0E5AB57036E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6395528-E74A-A967-DA1B-53AA8871561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67151C9-DBA0-8909-97A6-EB5B7EE27F32}"/>
              </a:ext>
            </a:extLst>
          </p:cNvPr>
          <p:cNvSpPr/>
          <p:nvPr/>
        </p:nvSpPr>
        <p:spPr>
          <a:xfrm>
            <a:off x="791330" y="2064889"/>
            <a:ext cx="2590539" cy="2920232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8881C0-6685-20F7-E927-BEB815A5DA68}"/>
              </a:ext>
            </a:extLst>
          </p:cNvPr>
          <p:cNvSpPr txBox="1"/>
          <p:nvPr/>
        </p:nvSpPr>
        <p:spPr>
          <a:xfrm>
            <a:off x="910443" y="2182087"/>
            <a:ext cx="233548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Admin;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check_admin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(user: Admin)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!("User is Admin");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admin = Admin;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check_admin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(admin);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B15EE8F-E9A8-1989-6E64-9725A44BBE6C}"/>
              </a:ext>
            </a:extLst>
          </p:cNvPr>
          <p:cNvSpPr/>
          <p:nvPr/>
        </p:nvSpPr>
        <p:spPr>
          <a:xfrm>
            <a:off x="4146109" y="1965928"/>
            <a:ext cx="2590539" cy="1138932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AB488-A778-B01B-CC5C-FA4F5EB1994B}"/>
              </a:ext>
            </a:extLst>
          </p:cNvPr>
          <p:cNvSpPr txBox="1"/>
          <p:nvPr/>
        </p:nvSpPr>
        <p:spPr>
          <a:xfrm>
            <a:off x="4275118" y="2350321"/>
            <a:ext cx="23354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 is Admin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BA44D1-7B65-FACF-F80F-D86D71FEA8B6}"/>
              </a:ext>
            </a:extLst>
          </p:cNvPr>
          <p:cNvGrpSpPr/>
          <p:nvPr/>
        </p:nvGrpSpPr>
        <p:grpSpPr>
          <a:xfrm>
            <a:off x="3948546" y="1850570"/>
            <a:ext cx="811482" cy="428588"/>
            <a:chOff x="7788233" y="2266207"/>
            <a:chExt cx="811482" cy="428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C9F43F1-FE8E-3BF9-A2B7-1334203E3DCF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3BDE3D-7A06-6964-C467-9ACA38051EFF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FB8665-51CF-5963-6EFA-AB6F92A9DC9A}"/>
              </a:ext>
            </a:extLst>
          </p:cNvPr>
          <p:cNvGrpSpPr/>
          <p:nvPr/>
        </p:nvGrpSpPr>
        <p:grpSpPr>
          <a:xfrm>
            <a:off x="385947" y="1860466"/>
            <a:ext cx="811482" cy="644032"/>
            <a:chOff x="9084622" y="2256310"/>
            <a:chExt cx="811482" cy="64403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3AC9C36-EB7E-EFCB-7D92-E9FFA362EDD7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8AF6D4-4BF8-B6CC-2998-B88661C16A23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A17A99F-7A63-0551-EB1B-AAA8668019AE}"/>
              </a:ext>
            </a:extLst>
          </p:cNvPr>
          <p:cNvSpPr txBox="1"/>
          <p:nvPr/>
        </p:nvSpPr>
        <p:spPr>
          <a:xfrm>
            <a:off x="4067299" y="3478480"/>
            <a:ext cx="6768935" cy="4370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Admin </a:t>
            </a:r>
            <a:r>
              <a:rPr lang="en-US" sz="1600" dirty="0" err="1">
                <a:cs typeface="Calibri"/>
              </a:rPr>
              <a:t>ไม่มีข้อมูล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แต่</a:t>
            </a:r>
            <a:r>
              <a:rPr lang="en-US" sz="1600" dirty="0">
                <a:cs typeface="Calibri"/>
              </a:rPr>
              <a:t> Rust </a:t>
            </a:r>
            <a:r>
              <a:rPr lang="en-US" sz="1600" dirty="0" err="1">
                <a:cs typeface="Calibri"/>
              </a:rPr>
              <a:t>ยังมองว่า</a:t>
            </a:r>
            <a:r>
              <a:rPr lang="en-US" sz="1600" dirty="0">
                <a:cs typeface="Calibri"/>
              </a:rPr>
              <a:t> Admin </a:t>
            </a:r>
            <a:r>
              <a:rPr lang="en-US" sz="1600" dirty="0" err="1">
                <a:cs typeface="Calibri"/>
              </a:rPr>
              <a:t>สามารถใช้เป็น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/>
              <a:t>Type </a:t>
            </a:r>
            <a:r>
              <a:rPr lang="en-US" sz="1600" dirty="0" err="1">
                <a:cs typeface="Calibri"/>
              </a:rPr>
              <a:t>ได้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68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1221E-7DCA-3C5A-838E-251627E9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0620A2-17DE-A52C-511E-DDE5D62B197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9EC93E-234A-7D6D-018E-F9BC482904F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237376-B02B-E3CF-0962-BD9BA2070F28}"/>
              </a:ext>
            </a:extLst>
          </p:cNvPr>
          <p:cNvSpPr/>
          <p:nvPr/>
        </p:nvSpPr>
        <p:spPr>
          <a:xfrm>
            <a:off x="486889" y="789375"/>
            <a:ext cx="9423834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Methods and the self Parameter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0FD2EE-B56B-3F33-2877-B6E3FDAC6C30}"/>
              </a:ext>
            </a:extLst>
          </p:cNvPr>
          <p:cNvSpPr/>
          <p:nvPr/>
        </p:nvSpPr>
        <p:spPr>
          <a:xfrm>
            <a:off x="5175305" y="1748215"/>
            <a:ext cx="4253083" cy="478069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61DD8B-961C-676E-5D6B-FA7FF9870B8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D8B75D-F720-4195-2005-615CE881489A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152E7-EF85-7D8C-EC1D-4647B9BA2B84}"/>
              </a:ext>
            </a:extLst>
          </p:cNvPr>
          <p:cNvSpPr txBox="1"/>
          <p:nvPr/>
        </p:nvSpPr>
        <p:spPr>
          <a:xfrm>
            <a:off x="356260" y="1716975"/>
            <a:ext cx="5165768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Method </a:t>
            </a:r>
            <a:r>
              <a:rPr lang="en-US" sz="1500" dirty="0" err="1">
                <a:ea typeface="+mn-lt"/>
                <a:cs typeface="+mn-lt"/>
              </a:rPr>
              <a:t>คืออะไร</a:t>
            </a:r>
            <a:r>
              <a:rPr lang="en-US" sz="1500" dirty="0">
                <a:ea typeface="+mn-lt"/>
                <a:cs typeface="+mn-lt"/>
              </a:rPr>
              <a:t>?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Method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Function </a:t>
            </a:r>
            <a:r>
              <a:rPr lang="en-US" sz="1500" dirty="0" err="1">
                <a:ea typeface="+mn-lt"/>
                <a:cs typeface="+mn-lt"/>
              </a:rPr>
              <a:t>ที่ถูกสร้างไว้ภายใน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latin typeface="Consolas"/>
                <a:ea typeface="Calibri"/>
                <a:cs typeface="Calibri"/>
              </a:rPr>
              <a:t>impl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ใช้สำหรับกำหนดพฤติกรรมหรือการทำงานของ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02EEF90D-1C25-059D-A47E-15F0C58E9776}"/>
              </a:ext>
            </a:extLst>
          </p:cNvPr>
          <p:cNvSpPr/>
          <p:nvPr/>
        </p:nvSpPr>
        <p:spPr>
          <a:xfrm>
            <a:off x="9549382" y="1748214"/>
            <a:ext cx="2244176" cy="101028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4FEAA9-0EAA-DE82-89A5-C5C4A45602AE}"/>
              </a:ext>
            </a:extLst>
          </p:cNvPr>
          <p:cNvSpPr txBox="1"/>
          <p:nvPr/>
        </p:nvSpPr>
        <p:spPr>
          <a:xfrm>
            <a:off x="9569530" y="2112818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name = John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age = 20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DA23E-8B58-3F5B-8BC4-C51C2FD4A70E}"/>
              </a:ext>
            </a:extLst>
          </p:cNvPr>
          <p:cNvSpPr txBox="1"/>
          <p:nvPr/>
        </p:nvSpPr>
        <p:spPr>
          <a:xfrm>
            <a:off x="9559636" y="1786246"/>
            <a:ext cx="81148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Calibri"/>
                <a:cs typeface="Calibri"/>
              </a:rPr>
              <a:t>student 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A40121-CF69-61A5-AFC8-0D391BA123F0}"/>
              </a:ext>
            </a:extLst>
          </p:cNvPr>
          <p:cNvGrpSpPr/>
          <p:nvPr/>
        </p:nvGrpSpPr>
        <p:grpSpPr>
          <a:xfrm>
            <a:off x="4898570" y="1523998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B48F68F-B8A4-A3FF-9D4B-DC39DC859F70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5790CCD-6CC1-8416-1EE6-FB0A06B7AB46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4FE18D00-F0DB-6467-BC1A-08FD60579EE7}"/>
              </a:ext>
            </a:extLst>
          </p:cNvPr>
          <p:cNvSpPr txBox="1"/>
          <p:nvPr/>
        </p:nvSpPr>
        <p:spPr>
          <a:xfrm>
            <a:off x="5383482" y="1845620"/>
            <a:ext cx="3829792" cy="458587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Student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name: String,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age: i32,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impl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Student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introduce(&amp;self)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!("Hi, I'm {}. I'm {} years old.",      self.name,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self.age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student = Student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name: String::from("John"),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age: 20,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};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student.introduce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();</a:t>
            </a:r>
            <a:endParaRPr lang="en-US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597F8475-430C-4D7D-E7ED-93E2FBCF9533}"/>
              </a:ext>
            </a:extLst>
          </p:cNvPr>
          <p:cNvSpPr/>
          <p:nvPr/>
        </p:nvSpPr>
        <p:spPr>
          <a:xfrm>
            <a:off x="9559277" y="3796707"/>
            <a:ext cx="2244176" cy="970701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FD85E5-CEE3-3C4A-CC10-9CA571B28589}"/>
              </a:ext>
            </a:extLst>
          </p:cNvPr>
          <p:cNvSpPr txBox="1"/>
          <p:nvPr/>
        </p:nvSpPr>
        <p:spPr>
          <a:xfrm>
            <a:off x="9549737" y="3983182"/>
            <a:ext cx="2454233" cy="303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Hi, I'm John. I'm 20 years old.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3F9C20-1556-4364-5712-D44FC0635FB7}"/>
              </a:ext>
            </a:extLst>
          </p:cNvPr>
          <p:cNvGrpSpPr/>
          <p:nvPr/>
        </p:nvGrpSpPr>
        <p:grpSpPr>
          <a:xfrm>
            <a:off x="9213274" y="3562597"/>
            <a:ext cx="811482" cy="428588"/>
            <a:chOff x="7788233" y="2266207"/>
            <a:chExt cx="811482" cy="4285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DFB64FA-AF30-BBB4-2000-4F7D3B73335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DFAC99-0263-DFE7-9DD2-4D3E42D0BED6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C4A2444-4628-718C-6147-F65FB7BDBC01}"/>
              </a:ext>
            </a:extLst>
          </p:cNvPr>
          <p:cNvSpPr txBox="1"/>
          <p:nvPr/>
        </p:nvSpPr>
        <p:spPr>
          <a:xfrm>
            <a:off x="356260" y="3250871"/>
            <a:ext cx="5165768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self </a:t>
            </a:r>
            <a:r>
              <a:rPr lang="en-US" sz="1500" dirty="0" err="1">
                <a:ea typeface="+mn-lt"/>
                <a:cs typeface="+mn-lt"/>
              </a:rPr>
              <a:t>คืออะไร</a:t>
            </a:r>
            <a:r>
              <a:rPr lang="en-US" sz="1500" dirty="0">
                <a:ea typeface="+mn-lt"/>
                <a:cs typeface="+mn-lt"/>
              </a:rPr>
              <a:t>?</a:t>
            </a:r>
            <a:endParaRPr lang="en-US" dirty="0"/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self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Parameter </a:t>
            </a:r>
            <a:r>
              <a:rPr lang="en-US" sz="1500" dirty="0" err="1">
                <a:ea typeface="+mn-lt"/>
                <a:cs typeface="+mn-lt"/>
              </a:rPr>
              <a:t>พิเศษของ</a:t>
            </a:r>
            <a:r>
              <a:rPr lang="en-US" sz="1500" dirty="0">
                <a:ea typeface="+mn-lt"/>
                <a:cs typeface="+mn-lt"/>
              </a:rPr>
              <a:t> Method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ใช้สำหรับอ้างอิงถึง</a:t>
            </a:r>
            <a:r>
              <a:rPr lang="en-US" sz="1500" dirty="0">
                <a:ea typeface="+mn-lt"/>
                <a:cs typeface="+mn-lt"/>
              </a:rPr>
              <a:t> Struct Instance </a:t>
            </a:r>
            <a:r>
              <a:rPr lang="en-US" sz="1500" dirty="0" err="1">
                <a:ea typeface="+mn-lt"/>
                <a:cs typeface="+mn-lt"/>
              </a:rPr>
              <a:t>ที่กำลังเรียก</a:t>
            </a:r>
            <a:r>
              <a:rPr lang="en-US" sz="1500" dirty="0">
                <a:ea typeface="+mn-lt"/>
                <a:cs typeface="+mn-lt"/>
              </a:rPr>
              <a:t> Method</a:t>
            </a:r>
          </a:p>
          <a:p>
            <a:endParaRPr lang="en-US" sz="15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1880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1586A-4601-E1ED-4425-009506EB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94ABD6-C412-5525-D04A-6B056450481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A80015-3AAE-6655-BFEE-A461C9B9AB0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8AAC0F-211C-5578-5BFC-A6EAF634EFFA}"/>
              </a:ext>
            </a:extLst>
          </p:cNvPr>
          <p:cNvSpPr/>
          <p:nvPr/>
        </p:nvSpPr>
        <p:spPr>
          <a:xfrm>
            <a:off x="486889" y="789375"/>
            <a:ext cx="9423834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[Associated Functions]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CEC64D-121D-97F3-BDA7-5286F725FA1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7CD81E-3451-830A-ED30-CE480F26389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805E1-0CBD-0904-6B37-CA6A9AE8CC2D}"/>
              </a:ext>
            </a:extLst>
          </p:cNvPr>
          <p:cNvSpPr txBox="1"/>
          <p:nvPr/>
        </p:nvSpPr>
        <p:spPr>
          <a:xfrm>
            <a:off x="356260" y="1716975"/>
            <a:ext cx="3922983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Associated Function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Function </a:t>
            </a:r>
            <a:r>
              <a:rPr lang="en-US" sz="1500" dirty="0" err="1">
                <a:ea typeface="+mn-lt"/>
                <a:cs typeface="+mn-lt"/>
              </a:rPr>
              <a:t>ที่อยู่ภายใน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impl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 err="1">
              <a:ea typeface="+mn-lt"/>
              <a:cs typeface="+mn-lt"/>
            </a:endParaRPr>
          </a:p>
          <a:p>
            <a:br>
              <a:rPr lang="en-US" sz="1500" dirty="0">
                <a:ea typeface="+mn-lt"/>
                <a:cs typeface="+mn-lt"/>
              </a:rPr>
            </a:b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แต่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ไม่มี</a:t>
            </a:r>
            <a:r>
              <a:rPr lang="en-US" sz="1500" dirty="0">
                <a:ea typeface="+mn-lt"/>
                <a:cs typeface="+mn-lt"/>
              </a:rPr>
              <a:t> self </a:t>
            </a:r>
            <a:r>
              <a:rPr lang="en-US" sz="1500" dirty="0" err="1">
                <a:ea typeface="+mn-lt"/>
                <a:cs typeface="+mn-lt"/>
              </a:rPr>
              <a:t>เพราะไม่ได้ทำงานกับ</a:t>
            </a:r>
            <a:r>
              <a:rPr lang="en-US" sz="1500" dirty="0">
                <a:ea typeface="+mn-lt"/>
                <a:cs typeface="+mn-lt"/>
              </a:rPr>
              <a:t> Struct Instance </a:t>
            </a:r>
            <a:r>
              <a:rPr lang="en-US" sz="1500" dirty="0" err="1">
                <a:ea typeface="+mn-lt"/>
                <a:cs typeface="+mn-lt"/>
              </a:rPr>
              <a:t>โดยตรง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EB9F913-23A2-A169-DF04-1D1BA191AD5A}"/>
              </a:ext>
            </a:extLst>
          </p:cNvPr>
          <p:cNvSpPr/>
          <p:nvPr/>
        </p:nvSpPr>
        <p:spPr>
          <a:xfrm>
            <a:off x="6067821" y="584583"/>
            <a:ext cx="5635177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76185-5EC1-2769-5062-009531EE4F49}"/>
              </a:ext>
            </a:extLst>
          </p:cNvPr>
          <p:cNvSpPr txBox="1"/>
          <p:nvPr/>
        </p:nvSpPr>
        <p:spPr>
          <a:xfrm>
            <a:off x="6297283" y="668547"/>
            <a:ext cx="5434642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// Associated Function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new(name: String) -&gt;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name,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age: 18,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}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 years old.", self.name,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Student::new(String::from("John"));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 dirty="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0AA5254-FC7A-F63D-1FAF-4EE547B7A51D}"/>
              </a:ext>
            </a:extLst>
          </p:cNvPr>
          <p:cNvGrpSpPr/>
          <p:nvPr/>
        </p:nvGrpSpPr>
        <p:grpSpPr>
          <a:xfrm>
            <a:off x="5660570" y="408213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5CF0457-9215-7A8C-7850-F57BC2FE2BF5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D056CA-5832-AE1C-7903-A539F98C1EFC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56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D0401-B644-F5C0-B48D-CE08F8A6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1D8ACD50-C45C-90FE-C7BF-8A952DC2449D}"/>
              </a:ext>
            </a:extLst>
          </p:cNvPr>
          <p:cNvSpPr/>
          <p:nvPr/>
        </p:nvSpPr>
        <p:spPr>
          <a:xfrm>
            <a:off x="1147313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9993AE-742B-354E-6A8E-46275EA963B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19D7ECC-FD1D-CAB1-0C0A-2F569F83CCCE}"/>
              </a:ext>
            </a:extLst>
          </p:cNvPr>
          <p:cNvSpPr/>
          <p:nvPr/>
        </p:nvSpPr>
        <p:spPr>
          <a:xfrm>
            <a:off x="446273" y="570206"/>
            <a:ext cx="5045704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BB6C2FB-B1ED-8587-B853-8F6A27D5FCCA}"/>
              </a:ext>
            </a:extLst>
          </p:cNvPr>
          <p:cNvSpPr/>
          <p:nvPr/>
        </p:nvSpPr>
        <p:spPr>
          <a:xfrm>
            <a:off x="6067821" y="584583"/>
            <a:ext cx="5635177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529BAB-085D-F765-6B0A-8D166CE00150}"/>
              </a:ext>
            </a:extLst>
          </p:cNvPr>
          <p:cNvSpPr txBox="1"/>
          <p:nvPr/>
        </p:nvSpPr>
        <p:spPr>
          <a:xfrm>
            <a:off x="603849" y="668547"/>
            <a:ext cx="490268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yearsold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.", self.name,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name: String::from("John"),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age: 20,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};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681C49-F64E-9030-D0FF-0D807AF4B73F}"/>
              </a:ext>
            </a:extLst>
          </p:cNvPr>
          <p:cNvSpPr txBox="1"/>
          <p:nvPr/>
        </p:nvSpPr>
        <p:spPr>
          <a:xfrm>
            <a:off x="6297283" y="668547"/>
            <a:ext cx="5434642" cy="6052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// Associated Function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new(name: String) -&gt;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name,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age: 18,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 years old.", self.name,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Student::new(String::from("John"));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8A8C5C85-1AAB-9A3D-C40B-CCDB6966EE8E}"/>
              </a:ext>
            </a:extLst>
          </p:cNvPr>
          <p:cNvSpPr/>
          <p:nvPr/>
        </p:nvSpPr>
        <p:spPr>
          <a:xfrm>
            <a:off x="428445" y="123933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7E5F105E-31E6-ABD6-9443-32F4396E68BC}"/>
              </a:ext>
            </a:extLst>
          </p:cNvPr>
          <p:cNvSpPr/>
          <p:nvPr/>
        </p:nvSpPr>
        <p:spPr>
          <a:xfrm>
            <a:off x="307675" y="11818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FFFFFF"/>
                </a:solidFill>
                <a:ea typeface="Calibri"/>
                <a:cs typeface="Calibri"/>
              </a:rPr>
              <a:t>ไม่ใช้</a:t>
            </a:r>
            <a:r>
              <a:rPr lang="en-US" sz="1300" b="1">
                <a:solidFill>
                  <a:srgbClr val="FFFFFF"/>
                </a:solidFill>
                <a:ea typeface="Calibri"/>
                <a:cs typeface="Calibri"/>
              </a:rPr>
              <a:t> Associated Function</a:t>
            </a:r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C636F3B3-4D8A-5690-7A3A-6372935EC2F6}"/>
              </a:ext>
            </a:extLst>
          </p:cNvPr>
          <p:cNvSpPr/>
          <p:nvPr/>
        </p:nvSpPr>
        <p:spPr>
          <a:xfrm>
            <a:off x="6049992" y="109555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B95AA111-1415-C4BE-6D7C-7D1E1DDB506E}"/>
              </a:ext>
            </a:extLst>
          </p:cNvPr>
          <p:cNvSpPr/>
          <p:nvPr/>
        </p:nvSpPr>
        <p:spPr>
          <a:xfrm>
            <a:off x="6044241" y="1038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FFFFFF"/>
                </a:solidFill>
                <a:ea typeface="Calibri"/>
                <a:cs typeface="Calibri"/>
              </a:rPr>
              <a:t>ใช้</a:t>
            </a:r>
            <a:r>
              <a:rPr lang="en-US" sz="1300" b="1">
                <a:solidFill>
                  <a:srgbClr val="FFFFFF"/>
                </a:solidFill>
                <a:ea typeface="Calibri"/>
                <a:cs typeface="Calibri"/>
              </a:rPr>
              <a:t> Associated Function</a:t>
            </a:r>
          </a:p>
        </p:txBody>
      </p:sp>
    </p:spTree>
    <p:extLst>
      <p:ext uri="{BB962C8B-B14F-4D97-AF65-F5344CB8AC3E}">
        <p14:creationId xmlns:p14="http://schemas.microsoft.com/office/powerpoint/2010/main" val="241911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714051"/>
            <a:ext cx="6772224" cy="3919227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830943" y="2049756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#[derive(Debug)]</a:t>
            </a:r>
            <a:endParaRPr lang="th-TH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struct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username: String,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balance: f64,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/>
          </a:p>
          <a:p>
            <a:endParaRPr lang="en-US"/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new(username: &amp;str,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initial_balance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f64) -&gt; Self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Self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username: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username.to_string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balance: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initial_balance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35129" y="1713889"/>
            <a:ext cx="4507992" cy="3919551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/>
          <p:cNvSpPr/>
          <p:nvPr/>
        </p:nvSpPr>
        <p:spPr>
          <a:xfrm>
            <a:off x="7474772" y="171763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74772" y="217483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#[derive(Debug)]: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ช่วยให้สามารถพิมพ์ค่าของ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 ออกมาทางหน้าจอโดยใช้ฟอร์แมต {:?}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เพื่อการ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Debugging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ได้สะดวก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74772" y="3015403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2] 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Struct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UserAccount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การนิยามโครงสร้างข้อมูลเพื่อเก็บสเตตของผู้ใช้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ประกอบด้วย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username, balance</a:t>
            </a:r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74772" y="3878379"/>
            <a:ext cx="4260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impl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UserAccount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บล็อกสำหรับเขียนฟังก์ชันเฉพาะของ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1E28B0C-51AA-1662-4FF0-196E7042C283}"/>
              </a:ext>
            </a:extLst>
          </p:cNvPr>
          <p:cNvSpPr/>
          <p:nvPr/>
        </p:nvSpPr>
        <p:spPr>
          <a:xfrm>
            <a:off x="7474772" y="4551381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4]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new(...):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Associated Function (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ไม่ได้รับ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self)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ทำหน้าที่เป็น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Constructor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เพื่อสร้าง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ใหม่ของ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E89EC-57DD-0ACF-2290-F3DADD49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E5CD1D-510E-E43D-1600-AD1D949761E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3AC5AE-D2A4-0AC4-D177-E53B168B063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668B25-C496-2588-12E8-8A039488EDBE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3C2B9C-FD1D-3DAE-FE2A-B6F390528009}"/>
              </a:ext>
            </a:extLst>
          </p:cNvPr>
          <p:cNvSpPr/>
          <p:nvPr/>
        </p:nvSpPr>
        <p:spPr>
          <a:xfrm>
            <a:off x="457200" y="1714051"/>
            <a:ext cx="6761181" cy="3543749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83425-AAFC-0438-3902-9047A2E96291}"/>
              </a:ext>
            </a:extLst>
          </p:cNvPr>
          <p:cNvSpPr/>
          <p:nvPr/>
        </p:nvSpPr>
        <p:spPr>
          <a:xfrm>
            <a:off x="573741" y="2099999"/>
            <a:ext cx="6752215" cy="321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get_balance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(&amp;self) -&gt; f64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endParaRPr lang="en-US" err="1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deposit(&amp;mut self, amount: f64)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if amount &gt; 0.0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+= amount;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ฝากเงินสำเร็จ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+${:.2} |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ยอดคงเหลือปัจจุบัน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amount,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จำนวนเงินฝากต้องมากกว่า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0");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39CCB9-C629-03E9-B26E-73EF38D4D70B}"/>
              </a:ext>
            </a:extLst>
          </p:cNvPr>
          <p:cNvSpPr/>
          <p:nvPr/>
        </p:nvSpPr>
        <p:spPr>
          <a:xfrm>
            <a:off x="7223760" y="169164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47EA0E-7BEA-7A5B-746B-A15F2FBE5B54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A57F16-1AD6-80B8-31C5-712F9F4894B1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5]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get_balance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(&amp;self):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Immutable Method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ยืมอ่านค่าฟิลด์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โดยไม่มีการเปลี่ยนแปลงข้อมูลภายใน</a:t>
            </a:r>
            <a:endParaRPr lang="en-US" err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6BB2F6-3C9B-28A9-6436-A9A615009305}"/>
              </a:ext>
            </a:extLst>
          </p:cNvPr>
          <p:cNvSpPr/>
          <p:nvPr/>
        </p:nvSpPr>
        <p:spPr>
          <a:xfrm>
            <a:off x="7452360" y="3426285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deposit(&amp;mut self, ...) &amp;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withdraw(&amp;mut self, 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Mutable Methods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ยืมสิทธิ์เข้าถึงเพื่อปรับแต่งแก้ไขค่า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ภายใน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FA499F-E9D4-6D4A-BED9-9EEB66736E7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4DA03F-F9DD-0E4D-C663-6CA5C4C98B7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713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35959-3FFF-4EC7-A1CC-623659E2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5271E-B613-5F32-190D-5F298A41BEE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59912-22BB-BFB3-725B-DE569073E35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E86A4A-E438-E0E6-B828-C9D475BD7AF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0378AD-1932-B17C-2FD0-EE0DA57E1E82}"/>
              </a:ext>
            </a:extLst>
          </p:cNvPr>
          <p:cNvSpPr/>
          <p:nvPr/>
        </p:nvSpPr>
        <p:spPr>
          <a:xfrm>
            <a:off x="457200" y="1714051"/>
            <a:ext cx="6738768" cy="4042081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AABF2A-5334-F40F-0A15-FE2D9C307D1E}"/>
              </a:ext>
            </a:extLst>
          </p:cNvPr>
          <p:cNvSpPr/>
          <p:nvPr/>
        </p:nvSpPr>
        <p:spPr>
          <a:xfrm>
            <a:off x="685800" y="1867437"/>
            <a:ext cx="6494481" cy="322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withdraw(&amp;mut self, amount: f64) -&gt; Result&lt;f64, String&gt;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if amount &lt;= 0.0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Err("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จำนวนเงินถอนต้องมากกว่า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0".to_string())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if amount 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Err("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ยอดเงินคงเหลือไม่เพียงพอ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".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to_string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-= amount;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Ok(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/>
          </a:p>
          <a:p>
            <a:endParaRPr lang="en-US" sz="1400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close_account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(self) -&gt; f64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ปิดบัญชีของ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{}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คืนเงินคงเหลือ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self.username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endParaRPr lang="en-US" err="1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44C728-A52F-F6D9-1732-1D29346D52B3}"/>
              </a:ext>
            </a:extLst>
          </p:cNvPr>
          <p:cNvSpPr/>
          <p:nvPr/>
        </p:nvSpPr>
        <p:spPr>
          <a:xfrm>
            <a:off x="7201349" y="1714051"/>
            <a:ext cx="4530403" cy="4042081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A9D137-4923-B3E3-F283-F3861F37711C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C50649-69A3-9DC4-299C-B8FA99E8D6E7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deposit(&amp;mut self, ...) &amp;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withdraw(&amp;mut self, 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Mutable Methods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ยืมสิทธิ์เข้าถึงเพื่อปรับแต่งแก้ไขค่า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ภายใน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0D2CD0-9C00-90F8-5CDA-947EB7D14201}"/>
              </a:ext>
            </a:extLst>
          </p:cNvPr>
          <p:cNvSpPr/>
          <p:nvPr/>
        </p:nvSpPr>
        <p:spPr>
          <a:xfrm>
            <a:off x="7441154" y="3640171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7]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close_account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(self):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Ownership Consumer Method โดยรับ self ไปตรง ๆ ทำให้ Instance นั้นถูกย้าย Ownership (Move) และย้อนกลับมาใช้งานอีกไม่ได้หลังจบคำสั่ง เพื่อความปลอดภัยด้านหน่วยความจำ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4DC27E-2999-4F40-DCC0-A0E50D98B97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735DC3-188F-5194-C016-48146DCBAC3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995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6E14E-4F9A-9DBC-922D-91567F84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1FE692-5EED-D75D-55AB-E9E8CE5CE5E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D4F166-A977-2095-D038-7528A6ED816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ADBCF5-A4AB-4776-0D29-E1DA0AB32C98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894D1D-38D5-2B4E-E447-4CD0F025B1B2}"/>
              </a:ext>
            </a:extLst>
          </p:cNvPr>
          <p:cNvSpPr/>
          <p:nvPr/>
        </p:nvSpPr>
        <p:spPr>
          <a:xfrm>
            <a:off x="457200" y="1714051"/>
            <a:ext cx="6750138" cy="4445971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E15FBD-BED6-E6E8-4465-5DF63A0DBF48}"/>
              </a:ext>
            </a:extLst>
          </p:cNvPr>
          <p:cNvSpPr/>
          <p:nvPr/>
        </p:nvSpPr>
        <p:spPr>
          <a:xfrm>
            <a:off x="685800" y="1867437"/>
            <a:ext cx="6774628" cy="322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main()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mut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=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::new("Alice", 100.0);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เริ่มต้นบัญชี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{:?}",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/>
          </a:p>
          <a:p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ยอดเงินเริ่มต้น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my_account.get_balance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());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my_account.deposit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(50.0);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match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my_account.withdraw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(30.0)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Ok(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new_balance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 =&gt;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ถอนเงินสำเร็จ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ยอดคงเหลือ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new_balance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),</a:t>
            </a:r>
            <a:endParaRPr lang="en-US"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Err(e) =&gt;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เกิดข้อผิดพลาด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{}", e),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refunded =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my_account.close_account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เงินคืนเข้ามือ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refunded);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609DA4-50B0-96A5-665F-EC6FC09A9F5F}"/>
              </a:ext>
            </a:extLst>
          </p:cNvPr>
          <p:cNvSpPr/>
          <p:nvPr/>
        </p:nvSpPr>
        <p:spPr>
          <a:xfrm>
            <a:off x="7212555" y="1714051"/>
            <a:ext cx="4519197" cy="444492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F5B2CF-26E0-A24E-8398-0AAF1A49ABB5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1D9ECA-B7E1-ADDC-53A8-2A26739F473B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UserAccount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0A33EF-6A6C-8798-F32C-940A63504022}"/>
              </a:ext>
            </a:extLst>
          </p:cNvPr>
          <p:cNvSpPr/>
          <p:nvPr/>
        </p:nvSpPr>
        <p:spPr>
          <a:xfrm>
            <a:off x="7452360" y="292608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ปริ้นท์ข้อมูลดิบของ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ออกมาดู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(Debug Mode)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C4F8D3-8934-907F-0EB5-28CDD8CA7094}"/>
              </a:ext>
            </a:extLst>
          </p:cNvPr>
          <p:cNvSpPr/>
          <p:nvPr/>
        </p:nvSpPr>
        <p:spPr>
          <a:xfrm>
            <a:off x="7452360" y="352044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ดึงยอดเงินออกมาแสดงผล</a:t>
            </a:r>
            <a:endParaRPr lang="en-US" err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68BCDA-F08C-E894-9923-F46B44316CA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A63A4F-DB06-273F-FB77-99CED6E908D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C238616-2BB1-F600-6DB9-CEC6414759F6}"/>
              </a:ext>
            </a:extLst>
          </p:cNvPr>
          <p:cNvSpPr/>
          <p:nvPr/>
        </p:nvSpPr>
        <p:spPr>
          <a:xfrm>
            <a:off x="7463565" y="4181587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4]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ฝากเงินเพิ่ม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50.0</a:t>
            </a:r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4E6CB88-AE5F-E8C7-1BDA-8AA2A57B3966}"/>
              </a:ext>
            </a:extLst>
          </p:cNvPr>
          <p:cNvSpPr/>
          <p:nvPr/>
        </p:nvSpPr>
        <p:spPr>
          <a:xfrm>
            <a:off x="7463565" y="482032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5]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ถอนเงิน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30.0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พร้อมตรวจเช็กข้อผิดพลาดด้วย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match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CCCECC6-0FD4-DBFF-2DF0-0A42200FDA0A}"/>
              </a:ext>
            </a:extLst>
          </p:cNvPr>
          <p:cNvSpPr/>
          <p:nvPr/>
        </p:nvSpPr>
        <p:spPr>
          <a:xfrm>
            <a:off x="7463565" y="5481469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ปิดบัญชี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คืนเงินคงเหลือทั้งหมด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และทำลาย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43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47040" y="8788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[Other Language]</a:t>
            </a:r>
            <a:endParaRPr lang="en-US" sz="30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33628"/>
              </p:ext>
            </p:extLst>
          </p:nvPr>
        </p:nvGraphicFramePr>
        <p:xfrm>
          <a:off x="447040" y="1598383"/>
          <a:ext cx="11274547" cy="4264152"/>
        </p:xfrm>
        <a:graphic>
          <a:graphicData uri="http://schemas.openxmlformats.org/drawingml/2006/table">
            <a:tbl>
              <a:tblPr/>
              <a:tblGrid>
                <a:gridCol w="1864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1433319920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314991369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C++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แยกนิยาม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(struct)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ออกจาก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Method/Function (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ไว้ใน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struct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หรือ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ส่ง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Receiver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ชัดเจน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(&amp;self, &amp;mut self, self)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this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เป็น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pointer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this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เป็น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reference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/>
                        <a:t>ใช้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>
                          <a:latin typeface="Consolas"/>
                          <a:ea typeface="Calibri"/>
                          <a:cs typeface="Calibri"/>
                        </a:rPr>
                        <a:t>self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 err="1"/>
                        <a:t>เป็นพารามิเตอร์ตัวแรก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 err="1"/>
                        <a:t>เพื่ออ้างถึง</a:t>
                      </a:r>
                      <a:r>
                        <a:rPr lang="en-US" sz="1300" b="0" i="0" u="none" strike="noStrike" noProof="0"/>
                        <a:t> Object </a:t>
                      </a:r>
                      <a:r>
                        <a:rPr lang="en-US" sz="1300" b="0" i="0" u="none" strike="noStrike" noProof="0" err="1"/>
                        <a:t>ปัจจุบัน</a:t>
                      </a:r>
                      <a:endParaRPr lang="th-TH" err="1"/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Statically &amp; Strongly typed/Trait 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Static Typing + Multiple Inheritance + Virtual Function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Statically &amp; Strongly typed Single Inheritance + Interface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Dynamically &amp; Strongly typed/Duck Typing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Ownership + Scope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เมื่อไม่ใช้งานแล้ว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ระบบจะคืนหน่วยความจำอัตโนมัติ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ไม่ต้องใช้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GC  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Stack / Heap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จัดการอายุข้อมูลด้วย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RAII, new/delete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หรือ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Smart Pointer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Object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โดยทั่วไปอยู่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Heap 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จัดการหน่วยความจำด้วย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Garbage Collector (GC)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อัตโนมัติ</a:t>
                      </a:r>
                      <a:endParaRPr lang="th-TH" err="1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Object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โดยทั่วไปอยู่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Heap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Reference Counting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เป็นหลัก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Cyclic GC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Compile-time Safety Ownership / Borrowing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ยืดหยุ่นสูง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/Dangling Pointer / Undefined Behavior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GC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ช่วยด้าน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Memory Safety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แต่ยังอาจเกิด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onsolas"/>
                        </a:rPr>
                        <a:t>NullPointerException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ตอน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Runtime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จัดการ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Memory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อัตโนมัติ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/ 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TypeError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/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AttributeError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/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IndexError</a:t>
                      </a:r>
                      <a:endParaRPr lang="th-TH" err="1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589510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Analysis: Rust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เลือกแนวทางการออกแบบ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"Separation of Concerns"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และ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"Composition over Inheritance"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โดยแยกนิยามโครงสร้างข้อมูล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(struct)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ออกจากพฤติกรรมการทำงาน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(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impl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)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อย่างเด็ดขาด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เพื่อตัดปัญหาความซับซ้อนของ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Type Hierarchy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และ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Fragile Base Class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ในภาษาเชิงวัตถุดั้งเดิมอย่าง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C++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หรือ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Java </a:t>
            </a:r>
            <a:endParaRPr lang="th-TH" sz="1100">
              <a:ea typeface="Calibri"/>
              <a:cs typeface="Cordia New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struct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สำหรับข้อมูล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impl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สำหรับ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Method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let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,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fn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,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match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และไม่ใช้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class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1584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74464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74464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-struct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ใช้เก็บข้อมูล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ส่วน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impl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ใช้กำหนดพฤติกรรมของ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Type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Ownership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Borrowing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กำหนดว่าใครมีสิทธิ์ใช้ข้อมูล</a:t>
            </a:r>
            <a:endParaRPr lang="th-TH">
              <a:latin typeface="Cambria"/>
              <a:ea typeface="Cambri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5968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8308848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308848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เป็น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Static + Strongly Typed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Trait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กำหนดพฤติกรรมร่วม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แทนการสืบทอดแบบ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Class</a:t>
            </a:r>
            <a:endParaRPr lang="th-TH">
              <a:latin typeface="Cambria"/>
              <a:ea typeface="Cambria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/ Resource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-ใช้ Ownership + Borrowing + Scope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จัดการหน่วยความจำ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คืนหน่วยความจำอัตโนมัติเมื่อเจ้าของออกจาก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Scope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โดยไม่ใช้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GC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1584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474464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Trait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เพื่อสร้าง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Abstraction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Module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เพื่อจัดขอบเขตของโค้ด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ควบคุมการเข้าถึงข้อมูลด้วย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pub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และระบบ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Ownership</a:t>
            </a:r>
            <a:endParaRPr lang="th-TH">
              <a:latin typeface="Cambria"/>
              <a:ea typeface="Cambria"/>
              <a:cs typeface="+mn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25968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848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Rust?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308848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เพิ่ม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Memory Safety + Reliability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โดยตรวจสอบปัญหาสำคัญตั้งแต่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Compile-time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พร้อมรักษา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Performance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ใกล้เคียงภาษาระดับระบบ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>
              <a:solidFill>
                <a:srgbClr val="6B6B6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</a:t>
            </a:r>
            <a:r>
              <a:rPr lang="en-US" sz="3000" b="1" err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ข้อผิดพลาดที่พบบ่อย</a:t>
            </a:r>
            <a:endParaRPr lang="en-US" sz="3000" err="1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063536"/>
            <a:ext cx="5630090" cy="4265615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15488" y="2317193"/>
            <a:ext cx="5192684" cy="358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โค้ดที่ผิด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/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ตัวอย่างข้อผิดพลาด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6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struct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name: String,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age: i32,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impl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show_info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()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ชื่อ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self.name);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อายุ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self.age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 sz="1400">
              <a:solidFill>
                <a:srgbClr val="D4D4D4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A984040-4A96-3E60-2F6F-D002E9D0F47D}"/>
              </a:ext>
            </a:extLst>
          </p:cNvPr>
          <p:cNvSpPr/>
          <p:nvPr/>
        </p:nvSpPr>
        <p:spPr>
          <a:xfrm>
            <a:off x="6193378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9147A21-2014-DD17-C39E-ECC6F8952E1E}"/>
              </a:ext>
            </a:extLst>
          </p:cNvPr>
          <p:cNvSpPr/>
          <p:nvPr/>
        </p:nvSpPr>
        <p:spPr>
          <a:xfrm>
            <a:off x="6114210" y="2063536"/>
            <a:ext cx="5620194" cy="4275512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A2D6312-8C8E-F641-8C7C-E8125BFA0629}"/>
              </a:ext>
            </a:extLst>
          </p:cNvPr>
          <p:cNvSpPr/>
          <p:nvPr/>
        </p:nvSpPr>
        <p:spPr>
          <a:xfrm>
            <a:off x="6431874" y="2317192"/>
            <a:ext cx="5301540" cy="359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โค้ดที่แก้ไขถูกต้อง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6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struct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name: String,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age: i32,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impl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show_info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(&amp;self)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ชื่อ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self.name);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อายุ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self.age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}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600">
              <a:solidFill>
                <a:srgbClr val="D4D4D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F2552-8DD3-EDB2-44B9-B28125FC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C0ACB6-DDDE-C58D-DC88-6D4D8D22530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248CBE-E464-35A2-15BC-36E4970B6C1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3D5AAE-F41F-B9E4-01F5-3FDB5484F11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ข้อผิดพลาดที่พบบ่อย</a:t>
            </a:r>
            <a:endParaRPr lang="en-US" sz="3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F4DF85-D4D5-02E0-2353-CA0DA9DED679}"/>
              </a:ext>
            </a:extLst>
          </p:cNvPr>
          <p:cNvSpPr/>
          <p:nvPr/>
        </p:nvSpPr>
        <p:spPr>
          <a:xfrm>
            <a:off x="325120" y="1986280"/>
            <a:ext cx="11213592" cy="30886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A86B71-5884-B380-7BF9-434CD172DF04}"/>
              </a:ext>
            </a:extLst>
          </p:cNvPr>
          <p:cNvSpPr/>
          <p:nvPr/>
        </p:nvSpPr>
        <p:spPr>
          <a:xfrm>
            <a:off x="553720" y="21234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8B2E2E"/>
                </a:solidFill>
                <a:latin typeface="Cambria"/>
                <a:ea typeface="Cambria"/>
                <a:cs typeface="Cambria" pitchFamily="34" charset="-120"/>
              </a:rPr>
              <a:t>ทำไมถึงผิด</a:t>
            </a:r>
            <a:r>
              <a:rPr lang="en-US" sz="1600" b="1">
                <a:solidFill>
                  <a:srgbClr val="8B2E2E"/>
                </a:solidFill>
                <a:latin typeface="Cambria"/>
                <a:ea typeface="Cambria"/>
                <a:cs typeface="Cambria" pitchFamily="34" charset="-120"/>
              </a:rPr>
              <a:t>? (Why?)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F037F5-6CE5-3E8D-E260-91341005C9E2}"/>
              </a:ext>
            </a:extLst>
          </p:cNvPr>
          <p:cNvSpPr/>
          <p:nvPr/>
        </p:nvSpPr>
        <p:spPr>
          <a:xfrm>
            <a:off x="553720" y="261112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show_info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()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ต้องการเข้าถึงข้อมูลของ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ผ่าน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แต่ไม่ได้ประกาศ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parameter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ทำให้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ไม่รู้ว่า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หมายถึง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ตัวใด</a:t>
            </a:r>
            <a:endParaRPr lang="en-US" err="1"/>
          </a:p>
          <a:p>
            <a:endParaRPr lang="en-US" sz="1400">
              <a:solidFill>
                <a:srgbClr val="222222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การแก้ไขคือเพิ่ม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&amp;self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เพื่อยืม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(borrow)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ที่เรียก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มาอ่านข้อมูล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โดยไม่เปลี่ยนแปลงหรือยึด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ownership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ของ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</a:t>
            </a:r>
            <a:endParaRPr lang="en-US"/>
          </a:p>
          <a:p>
            <a:pPr marL="0" indent="0">
              <a:buNone/>
            </a:pPr>
            <a:endParaRPr lang="en-US" sz="14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0EE54E-8885-4D01-7554-D82B36681A6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9C4B71-CC58-496C-2400-98B0152DA92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2082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719218"/>
            <a:ext cx="9959195" cy="3988887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12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25FF7A2-AD08-CF69-350D-6BCACFB6EC60}"/>
              </a:ext>
            </a:extLst>
          </p:cNvPr>
          <p:cNvSpPr/>
          <p:nvPr/>
        </p:nvSpPr>
        <p:spPr>
          <a:xfrm>
            <a:off x="731521" y="2363651"/>
            <a:ext cx="5616521" cy="2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จงเขียนโปรแกรมภาษา Rust สำหรับจัดการสินค้า โดยใช้ 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Structs &amp; Methods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สร้าง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ที่มีข้อมูล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name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ชื่อสินค้า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price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ราคาสินค้า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จำนวนสินค้าในคลัง</a:t>
            </a:r>
          </a:p>
          <a:p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โปรแกรมต้องมี Methods สำหรับ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แสดงข้อมูลสินค้า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เพิ่มจำนวนสินค้าในคลัง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ซื้อสินค้า โดยลดจำนวน 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stock</a:t>
            </a: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 ตามจำนวนที่ซื้อ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ไม่สามารถซื้อสินค้าได้ หากสินค้าในคลังไม่เพียงพอ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F83D9-8567-4092-F2C4-50A1891D54F6}"/>
              </a:ext>
            </a:extLst>
          </p:cNvPr>
          <p:cNvSpPr txBox="1"/>
          <p:nvPr/>
        </p:nvSpPr>
        <p:spPr>
          <a:xfrm>
            <a:off x="7493000" y="2240643"/>
            <a:ext cx="2712358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650"/>
              </a:lnSpc>
            </a:pPr>
            <a:r>
              <a:rPr lang="en-US" sz="1400" b="1" baseline="0">
                <a:solidFill>
                  <a:srgbClr val="222222"/>
                </a:solidFill>
                <a:latin typeface="Calibri"/>
                <a:ea typeface="Tahoma"/>
                <a:cs typeface="Tahoma"/>
              </a:rPr>
              <a:t>ตัวอย่างผลลัพธ์</a:t>
            </a:r>
            <a:r>
              <a:rPr lang="en-US" sz="1400">
                <a:latin typeface="Calibri"/>
                <a:ea typeface="Tahoma"/>
                <a:cs typeface="Tahoma"/>
              </a:rPr>
              <a:t>​</a:t>
            </a:r>
          </a:p>
          <a:p>
            <a:pPr rtl="0">
              <a:lnSpc>
                <a:spcPts val="1650"/>
              </a:lnSpc>
            </a:pP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สินค้า: Keyboard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ราคา: 1200 บาท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Stock: 10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ซื้อสินค้า 3 ชิ้น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ซื้อสำเร็จ!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Stock เหลือ: 7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ซื้อสินค้า 10 ชิ้น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ไม่สามารถซื้อได้! สินค้าไม่เพียงพอ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93C22-BD9F-6AC0-C005-2A83F6C7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7929C6-00D1-9490-199C-E5F2BF7D382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D5B229-E717-A12C-8C22-429346E382E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9FC750-D59D-8F41-1DA4-E9238128744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1D8B32-95DE-5936-0B2C-E67BEC8EC683}"/>
              </a:ext>
            </a:extLst>
          </p:cNvPr>
          <p:cNvSpPr/>
          <p:nvPr/>
        </p:nvSpPr>
        <p:spPr>
          <a:xfrm>
            <a:off x="457200" y="1719218"/>
            <a:ext cx="11274552" cy="4261030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C599C1-B9F9-6281-E4D7-E367B5651095}"/>
              </a:ext>
            </a:extLst>
          </p:cNvPr>
          <p:cNvSpPr/>
          <p:nvPr/>
        </p:nvSpPr>
        <p:spPr>
          <a:xfrm>
            <a:off x="674914" y="2021841"/>
            <a:ext cx="10846163" cy="314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💡 </a:t>
            </a:r>
            <a:r>
              <a:rPr lang="en-US" err="1"/>
              <a:t>คำใบ้</a:t>
            </a:r>
            <a:endParaRPr lang="en-US"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1: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เริ่มจากกำหนดข้อมูลของสินค้า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อย่าง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ได้แก่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ชื่อสินค้า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ราคา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และจำนวนสินค้าในคลัง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2: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เพื่อเก็บข้อมูลทั้ง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อย่างไว้ด้วยกัน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3: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แล้วเขียน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สำหรับจัดการสินค้า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4: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ที่มีหน้าที่แค่แสดงข้อมูลสินค้า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ไม่ได้เปลี่ยนค่า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ควรใช้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&amp;self</a:t>
            </a:r>
            <a:endParaRPr lang="en-US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5: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ที่ต้องเพิ่มหรือลดจำนวน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จะต้องแก้ไขข้อมูลใน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ดังนั้นควรใช้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&amp;mut self</a:t>
            </a:r>
            <a:endParaRPr lang="en-US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6: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ถ้าต้องการเรียก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&amp;mut 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ตัวแปรที่เก็บ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ต้องสามารถถูกแก้ไขได้</a:t>
            </a:r>
            <a:endParaRPr lang="en-US" err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BD071F-0132-BB21-CD9D-7153619CB7B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19CA53-F244-7DD8-FCF6-A29C66002D9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15497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35696-4AF3-77B1-8B94-4CF60ACC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E2F2DF-D8BB-9623-58E6-7DEE19BB473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D86965-4118-F3E6-265C-E5CF92025A7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7ABF70-4479-D041-9B5A-DF33928775B1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30727DA-F3C7-9657-FA18-8AF466DCCA80}"/>
              </a:ext>
            </a:extLst>
          </p:cNvPr>
          <p:cNvSpPr/>
          <p:nvPr/>
        </p:nvSpPr>
        <p:spPr>
          <a:xfrm>
            <a:off x="456112" y="1700349"/>
            <a:ext cx="10837091" cy="4060371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0C42CD-2499-A015-07B6-EAB361184BB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CFF6E6-D387-15ED-7F78-530D2B6E220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CFE633-7F16-CD21-6525-72A02B1A6B89}"/>
              </a:ext>
            </a:extLst>
          </p:cNvPr>
          <p:cNvSpPr txBox="1"/>
          <p:nvPr/>
        </p:nvSpPr>
        <p:spPr>
          <a:xfrm>
            <a:off x="916215" y="1950357"/>
            <a:ext cx="3202215" cy="32808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// Solution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struct Product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 name: String,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 price: f64,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 stock: i32,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Product {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show_i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nfo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(&amp;self)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{}", self.name);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ราคา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บาท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",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self.price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!("Stock: {}",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add_stock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(&amp;mut self, amount: i32)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+= amount;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84E9F-CD92-E560-8DC1-3CA4616549A0}"/>
              </a:ext>
            </a:extLst>
          </p:cNvPr>
          <p:cNvSpPr txBox="1"/>
          <p:nvPr/>
        </p:nvSpPr>
        <p:spPr>
          <a:xfrm>
            <a:off x="5878287" y="1950357"/>
            <a:ext cx="3927928" cy="18774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err="1">
                <a:solidFill>
                  <a:srgbClr val="FFFFFF"/>
                </a:solidFill>
                <a:latin typeface="Calibri"/>
              </a:rPr>
              <a:t>fn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buy(&amp;mut self, amount: i32)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if amount &lt;=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self.stock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  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self.stock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-= amount;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println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!("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ซื้อสำเร็จ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!");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 else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  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println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!("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ไม่สามารถซื้อได้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สินค้าไม่เพียงพอ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");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 }</a:t>
            </a:r>
            <a:r>
              <a:rPr sz="1400">
                <a:latin typeface="Calibri"/>
                <a:ea typeface="Calibri"/>
                <a:cs typeface="Calibri"/>
              </a:rPr>
              <a:t>​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45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A409B-89B1-9684-4540-9151C55F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5B410D-41EA-8D31-C098-6E95194FA30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9A4BE2-8B7B-4F38-FBBD-72722781E64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D3022F-21F5-BDEB-60AB-90AAEDC47937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DDBA2E5-70CB-5455-BF1C-D730DD7B7E9F}"/>
              </a:ext>
            </a:extLst>
          </p:cNvPr>
          <p:cNvSpPr/>
          <p:nvPr/>
        </p:nvSpPr>
        <p:spPr>
          <a:xfrm>
            <a:off x="456112" y="1700349"/>
            <a:ext cx="10837091" cy="4060371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4CC093-78EC-5311-6984-B037C1D7059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2FB003-A041-8EB4-5DAD-EF4ED67DFE1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52BC6-BD1D-53C4-4121-E791419ADB9F}"/>
              </a:ext>
            </a:extLst>
          </p:cNvPr>
          <p:cNvSpPr txBox="1"/>
          <p:nvPr/>
        </p:nvSpPr>
        <p:spPr>
          <a:xfrm>
            <a:off x="671286" y="1905001"/>
            <a:ext cx="3093357" cy="36440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main()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 let mut product = Product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  name: "Keyboard".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to_string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(),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  price: 1200.0,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  stock: 10,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product.show_info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4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!("\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nซื้อสินค้า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ชิ้น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product.buy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(3);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!("Stock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เหลือ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{}",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!("\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nซื้อสินค้า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10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ชิ้น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product.buy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(10);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CBCF8-B981-CBAF-9E26-F69B551F7766}"/>
              </a:ext>
            </a:extLst>
          </p:cNvPr>
          <p:cNvSpPr txBox="1"/>
          <p:nvPr/>
        </p:nvSpPr>
        <p:spPr>
          <a:xfrm>
            <a:off x="4807857" y="1905000"/>
            <a:ext cx="5932714" cy="25914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Explanation</a:t>
            </a:r>
            <a:endParaRPr lang="en-US">
              <a:solidFill>
                <a:schemeClr val="bg1"/>
              </a:solidFill>
            </a:endParaRPr>
          </a:p>
          <a:p>
            <a:endParaRPr lang="en-US" sz="1400" b="1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show_info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(&amp;self)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ใช้สำหรับอ่านข้อมูล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จึงไม่ต้องแก้ไข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Struct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add_stock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(&amp;mut 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ใช้เพิ่มสินค้า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จึงต้องแก้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stock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buy(&amp;mut 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ใช้ลด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จึงต้องใช้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&amp;mut self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let mut product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จำเป็น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เพราะมีการเรียก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ที่แก้ไขข้อมูลภายใน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Struct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35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สรุปสิ่งที่ควรจำ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Struct = Data</a:t>
            </a:r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600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ใช้รวมข้อมูลที่เกี่ยวข้องกันไว้ใน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Type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เดียว</a:t>
            </a:r>
            <a:endParaRPr lang="th-TH">
              <a:ea typeface="Calibri"/>
              <a:cs typeface="Cordia New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impl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= Behavior: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impl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ใช้กำหนด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และพฤติกรรมของ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struct</a:t>
            </a:r>
            <a:endParaRPr lang="th-TH">
              <a:ea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self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222222"/>
                </a:solidFill>
                <a:ea typeface="+mn-lt"/>
                <a:cs typeface="+mn-lt"/>
              </a:rPr>
              <a:t>กำหนดการเข้าถึงข้อมูล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&amp;self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อ่านข้อมูล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&amp;mut 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แก้ไขข้อมูล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รับ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Ownership</a:t>
            </a:r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43000" y="4849091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Rust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กับ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PPL: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 Rust </a:t>
            </a:r>
            <a:r>
              <a:rPr lang="en-US" sz="1600" b="1" err="1">
                <a:solidFill>
                  <a:srgbClr val="222222"/>
                </a:solidFill>
                <a:ea typeface="+mn-lt"/>
                <a:cs typeface="+mn-lt"/>
              </a:rPr>
              <a:t>ใช้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Ownership + Borrowing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ควบคุมการเข้าถึง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Resource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และตรวจสอบความปลอดภัยของ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Memory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ตั้งแต่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Compile-time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ซึ่งเป็นแนวคิดสำคัญด้าน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Memory Management </a:t>
            </a:r>
            <a:r>
              <a:rPr lang="en-US" sz="1600" b="1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Safety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ของภาษา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th-TH">
              <a:ea typeface="+mn-lt"/>
              <a:cs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เอกสารอ้างอิง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Rust Programming Language (The Rust Book) — https://doc.rust-lang.org/book/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Rust by Example — https://doc.rust-lang.org/rust-by-example/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[Official documentation ที่เกี่ยวข้องกับหัวข้อนี้]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[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https://www.w3schools.com/rust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GitHub Repository: [</a:t>
            </a:r>
            <a:r>
              <a:rPr lang="en-US" sz="1300">
                <a:solidFill>
                  <a:srgbClr val="6B6B6B"/>
                </a:solidFill>
                <a:ea typeface="+mn-lt"/>
                <a:cs typeface="+mn-lt"/>
                <a:hlinkClick r:id="rId3"/>
              </a:rPr>
              <a:t>rust-tutorial-2569/08-structs-methods at main · soonklang/rust-tutorial-2569</a:t>
            </a:r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ea typeface="Calibri"/>
                <a:cs typeface="Calibri"/>
              </a:rPr>
              <a:t>11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9B45D25-9586-9705-F2F8-F79518E02A3F}"/>
              </a:ext>
            </a:extLst>
          </p:cNvPr>
          <p:cNvSpPr/>
          <p:nvPr/>
        </p:nvSpPr>
        <p:spPr>
          <a:xfrm>
            <a:off x="457199" y="449004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[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https://users.rust-lang.org/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2E2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กลุ่ม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 [8]  —  [</a:t>
            </a:r>
            <a:r>
              <a:rPr lang="en-US">
                <a:solidFill>
                  <a:srgbClr val="FFFFFF"/>
                </a:solidFill>
                <a:latin typeface="Cambria"/>
                <a:ea typeface="Cambria"/>
                <a:cs typeface="Calibri"/>
              </a:rPr>
              <a:t>Structs &amp; Methods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]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fc7acaa-f919-463b-ae62-f5f9386dcdd5" ContentTypeId="0x0101" PreviousValue="false" LastSyncTimeStamp="2021-07-23T15:19:22.11Z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5cb4d8-19a9-4b13-b6f5-824b45606c3c" xsi:nil="true"/>
    <TaxCatchAll xmlns="05ba3fbd-fa01-48bf-bc2f-69fc95da4780" xsi:nil="true"/>
    <lcf76f155ced4ddcb4097134ff3c332f xmlns="e45cb4d8-19a9-4b13-b6f5-824b45606c3c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95E7BA23164C44A34976FF774A14AC" ma:contentTypeVersion="10" ma:contentTypeDescription="Create a new document." ma:contentTypeScope="" ma:versionID="2f44f0bb94919e1f903395cc1183c075">
  <xsd:schema xmlns:xsd="http://www.w3.org/2001/XMLSchema" xmlns:xs="http://www.w3.org/2001/XMLSchema" xmlns:p="http://schemas.microsoft.com/office/2006/metadata/properties" xmlns:ns2="e45cb4d8-19a9-4b13-b6f5-824b45606c3c" xmlns:ns3="05ba3fbd-fa01-48bf-bc2f-69fc95da4780" targetNamespace="http://schemas.microsoft.com/office/2006/metadata/properties" ma:root="true" ma:fieldsID="a2c459f503b3398f1a2a29cd3f23eec8" ns2:_="" ns3:_="">
    <xsd:import namespace="e45cb4d8-19a9-4b13-b6f5-824b45606c3c"/>
    <xsd:import namespace="05ba3fbd-fa01-48bf-bc2f-69fc95da478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cb4d8-19a9-4b13-b6f5-824b45606c3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fc7acaa-f919-463b-ae62-f5f9386d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a3fbd-fa01-48bf-bc2f-69fc95da478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274c671-846a-4cc7-976c-4bfcf4102f82}" ma:internalName="TaxCatchAll" ma:showField="CatchAllData" ma:web="05ba3fbd-fa01-48bf-bc2f-69fc95da4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A667C0-ED1B-4BFA-9314-03765D10CAC2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C99117EF-BA54-42FD-B62A-5873547695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8E5E56-0CD0-4894-A2CA-99C3A5EE20BD}">
  <ds:schemaRefs>
    <ds:schemaRef ds:uri="05ba3fbd-fa01-48bf-bc2f-69fc95da4780"/>
    <ds:schemaRef ds:uri="e45cb4d8-19a9-4b13-b6f5-824b45606c3c"/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EB43914B-A295-4421-B673-F9E34DAF3BB5}">
  <ds:schemaRefs>
    <ds:schemaRef ds:uri="05ba3fbd-fa01-48bf-bc2f-69fc95da4780"/>
    <ds:schemaRef ds:uri="e45cb4d8-19a9-4b13-b6f5-824b45606c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27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363</cp:revision>
  <dcterms:created xsi:type="dcterms:W3CDTF">2026-09-18T02:35:33Z</dcterms:created>
  <dcterms:modified xsi:type="dcterms:W3CDTF">2026-10-03T13:34:24Z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0x010100AF95E7BA23164C44A34976FF774A14AC</vt:lpwstr>
  </property>
</Properties>
</file>